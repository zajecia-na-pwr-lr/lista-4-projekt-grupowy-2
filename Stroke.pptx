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0" r:id="rId1"/>
  </p:sldMasterIdLst>
  <p:sldIdLst>
    <p:sldId id="256" r:id="rId2"/>
    <p:sldId id="257" r:id="rId3"/>
    <p:sldId id="258" r:id="rId4"/>
    <p:sldId id="260" r:id="rId5"/>
    <p:sldId id="261" r:id="rId6"/>
    <p:sldId id="262" r:id="rId7"/>
    <p:sldId id="263" r:id="rId8"/>
    <p:sldId id="264" r:id="rId9"/>
    <p:sldId id="259" r:id="rId10"/>
    <p:sldId id="275" r:id="rId11"/>
    <p:sldId id="265" r:id="rId12"/>
    <p:sldId id="266" r:id="rId13"/>
    <p:sldId id="267" r:id="rId14"/>
    <p:sldId id="268" r:id="rId15"/>
    <p:sldId id="272" r:id="rId16"/>
    <p:sldId id="269" r:id="rId17"/>
    <p:sldId id="270" r:id="rId18"/>
    <p:sldId id="271" r:id="rId19"/>
    <p:sldId id="274" r:id="rId20"/>
    <p:sldId id="273" r:id="rId21"/>
    <p:sldId id="276" r:id="rId22"/>
    <p:sldId id="277" r:id="rId23"/>
    <p:sldId id="279" r:id="rId24"/>
    <p:sldId id="281" r:id="rId25"/>
    <p:sldId id="280" r:id="rId26"/>
    <p:sldId id="282" r:id="rId27"/>
    <p:sldId id="283" r:id="rId28"/>
    <p:sldId id="284" r:id="rId29"/>
    <p:sldId id="285" r:id="rId30"/>
    <p:sldId id="286" r:id="rId31"/>
    <p:sldId id="278"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4729"/>
  </p:normalViewPr>
  <p:slideViewPr>
    <p:cSldViewPr snapToGrid="0">
      <p:cViewPr varScale="1">
        <p:scale>
          <a:sx n="109" d="100"/>
          <a:sy n="109" d="100"/>
        </p:scale>
        <p:origin x="72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ajd tytułowy">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all" baseline="0">
                <a:solidFill>
                  <a:schemeClr val="tx2"/>
                </a:solidFill>
              </a:defRPr>
            </a:lvl1pPr>
          </a:lstStyle>
          <a:p>
            <a:r>
              <a:rPr lang="pl-PL"/>
              <a:t>Kliknij, aby edytować styl</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baseline="0">
                <a:solidFill>
                  <a:schemeClr val="tx2"/>
                </a:solidFill>
              </a:defRPr>
            </a:lvl1p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a:xfrm>
            <a:off x="2584054" y="6453386"/>
            <a:ext cx="7023377" cy="404614"/>
          </a:xfrm>
        </p:spPr>
        <p:txBody>
          <a:bodyPr/>
          <a:lstStyle>
            <a:lvl1pPr algn="ctr">
              <a:defRPr baseline="0">
                <a:solidFill>
                  <a:schemeClr val="tx2"/>
                </a:solidFill>
              </a:defRPr>
            </a:lvl1pPr>
          </a:lstStyle>
          <a:p>
            <a:endParaRPr lang="pl-PL"/>
          </a:p>
        </p:txBody>
      </p:sp>
      <p:sp>
        <p:nvSpPr>
          <p:cNvPr id="6" name="Slide Number Placeholder 5"/>
          <p:cNvSpPr>
            <a:spLocks noGrp="1"/>
          </p:cNvSpPr>
          <p:nvPr>
            <p:ph type="sldNum" sz="quarter" idx="12"/>
          </p:nvPr>
        </p:nvSpPr>
        <p:spPr>
          <a:xfrm>
            <a:off x="9830683" y="6453386"/>
            <a:ext cx="1596292" cy="404614"/>
          </a:xfrm>
        </p:spPr>
        <p:txBody>
          <a:bodyPr/>
          <a:lstStyle>
            <a:lvl1pPr>
              <a:defRPr baseline="0">
                <a:solidFill>
                  <a:schemeClr val="tx2"/>
                </a:solidFill>
              </a:defRPr>
            </a:lvl1pPr>
          </a:lstStyle>
          <a:p>
            <a:fld id="{AFD39C36-64F0-DF44-97FD-40952FE77D55}" type="slidenum">
              <a:rPr lang="pl-PL" smtClean="0"/>
              <a:t>‹#›</a:t>
            </a:fld>
            <a:endParaRPr lang="pl-PL"/>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extLst>
      <p:ext uri="{BB962C8B-B14F-4D97-AF65-F5344CB8AC3E}">
        <p14:creationId xmlns:p14="http://schemas.microsoft.com/office/powerpoint/2010/main" val="2498819841"/>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1070477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Nagłówek sekcji">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pl-PL"/>
              <a:t>Kliknij, aby edytować styl</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pl-PL"/>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AFD39C36-64F0-DF44-97FD-40952FE77D55}" type="slidenum">
              <a:rPr lang="pl-PL" smtClean="0"/>
              <a:t>‹#›</a:t>
            </a:fld>
            <a:endParaRPr lang="pl-PL"/>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extLst>
      <p:ext uri="{BB962C8B-B14F-4D97-AF65-F5344CB8AC3E}">
        <p14:creationId xmlns:p14="http://schemas.microsoft.com/office/powerpoint/2010/main" val="3230205556"/>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pl-PL"/>
              <a:t>Kliknij, aby edytować styl</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E232D418-9E88-7943-90B6-0440B62E84A8}" type="datetimeFigureOut">
              <a:rPr lang="pl-PL" smtClean="0"/>
              <a:t>14.05.2026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2595559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pl-PL"/>
              <a:t>Kliknij, aby edytować styl</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E232D418-9E88-7943-90B6-0440B62E84A8}" type="datetimeFigureOut">
              <a:rPr lang="pl-PL" smtClean="0"/>
              <a:t>14.05.2026</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4058090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E232D418-9E88-7943-90B6-0440B62E84A8}" type="datetimeFigureOut">
              <a:rPr lang="pl-PL" smtClean="0"/>
              <a:t>14.05.2026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23070098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232D418-9E88-7943-90B6-0440B62E84A8}" type="datetimeFigureOut">
              <a:rPr lang="pl-PL" smtClean="0"/>
              <a:t>14.05.2026</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7038136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Zawartość z podpisem">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pl-PL"/>
              <a:t>Kliknij, aby edytować styl</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E232D418-9E88-7943-90B6-0440B62E84A8}" type="datetimeFigureOut">
              <a:rPr lang="pl-PL" smtClean="0"/>
              <a:t>14.05.2026</a:t>
            </a:fld>
            <a:endParaRPr lang="pl-PL"/>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pl-PL"/>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AFD39C36-64F0-DF44-97FD-40952FE77D55}" type="slidenum">
              <a:rPr lang="pl-PL" smtClean="0"/>
              <a:t>‹#›</a:t>
            </a:fld>
            <a:endParaRPr lang="pl-PL"/>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347877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Obraz z podpisem">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pl-PL"/>
              <a:t>Kliknij, aby edytować styl</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l-PL"/>
              <a:t>Kliknij ikonę, aby dodać obraz</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E232D418-9E88-7943-90B6-0440B62E84A8}" type="datetimeFigureOut">
              <a:rPr lang="pl-PL" smtClean="0"/>
              <a:t>14.05.2026</a:t>
            </a:fld>
            <a:endParaRPr lang="pl-PL"/>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pl-PL"/>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AFD39C36-64F0-DF44-97FD-40952FE77D55}" type="slidenum">
              <a:rPr lang="pl-PL" smtClean="0"/>
              <a:t>‹#›</a:t>
            </a:fld>
            <a:endParaRPr lang="pl-PL"/>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5935582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13863153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37613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pl-PL"/>
              <a:t>Kliknij, aby edytować styl</a:t>
            </a:r>
            <a:endParaRPr lang="en-US" dirty="0"/>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E232D418-9E88-7943-90B6-0440B62E84A8}" type="datetimeFigureOut">
              <a:rPr lang="pl-PL" smtClean="0"/>
              <a:t>14.05.2026</a:t>
            </a:fld>
            <a:endParaRPr lang="pl-PL"/>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pl-PL"/>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AFD39C36-64F0-DF44-97FD-40952FE77D55}" type="slidenum">
              <a:rPr lang="pl-PL" smtClean="0"/>
              <a:t>‹#›</a:t>
            </a:fld>
            <a:endParaRPr lang="pl-PL"/>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194824674"/>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37E1F3A-690B-65C2-BB58-04807890D2FC}"/>
              </a:ext>
            </a:extLst>
          </p:cNvPr>
          <p:cNvSpPr>
            <a:spLocks noGrp="1"/>
          </p:cNvSpPr>
          <p:nvPr>
            <p:ph type="ctrTitle"/>
          </p:nvPr>
        </p:nvSpPr>
        <p:spPr>
          <a:xfrm>
            <a:off x="1915384" y="2138855"/>
            <a:ext cx="8361229" cy="2098226"/>
          </a:xfrm>
        </p:spPr>
        <p:txBody>
          <a:bodyPr/>
          <a:lstStyle/>
          <a:p>
            <a:r>
              <a:rPr lang="pl-PL" dirty="0"/>
              <a:t>Klasyfikacja Zawałów Serca</a:t>
            </a:r>
          </a:p>
        </p:txBody>
      </p:sp>
      <p:sp>
        <p:nvSpPr>
          <p:cNvPr id="5" name="pole tekstowe 4">
            <a:extLst>
              <a:ext uri="{FF2B5EF4-FFF2-40B4-BE49-F238E27FC236}">
                <a16:creationId xmlns:a16="http://schemas.microsoft.com/office/drawing/2014/main" id="{C095D5AB-1AB0-D6C6-EE5C-7740BDCAF689}"/>
              </a:ext>
            </a:extLst>
          </p:cNvPr>
          <p:cNvSpPr txBox="1"/>
          <p:nvPr/>
        </p:nvSpPr>
        <p:spPr>
          <a:xfrm>
            <a:off x="4198881" y="4424855"/>
            <a:ext cx="3794234" cy="430887"/>
          </a:xfrm>
          <a:prstGeom prst="rect">
            <a:avLst/>
          </a:prstGeom>
          <a:noFill/>
        </p:spPr>
        <p:txBody>
          <a:bodyPr wrap="square" rtlCol="0">
            <a:spAutoFit/>
          </a:bodyPr>
          <a:lstStyle/>
          <a:p>
            <a:pPr algn="ctr"/>
            <a:r>
              <a:rPr lang="pl-PL" sz="2200" dirty="0" err="1"/>
              <a:t>Stroke</a:t>
            </a:r>
            <a:r>
              <a:rPr lang="pl-PL" sz="2200" dirty="0"/>
              <a:t> </a:t>
            </a:r>
            <a:r>
              <a:rPr lang="pl-PL" sz="2200" dirty="0" err="1"/>
              <a:t>Prediction</a:t>
            </a:r>
            <a:r>
              <a:rPr lang="pl-PL" sz="2200" dirty="0"/>
              <a:t> </a:t>
            </a:r>
            <a:r>
              <a:rPr lang="pl-PL" sz="2200" dirty="0" err="1"/>
              <a:t>Dataset</a:t>
            </a:r>
            <a:endParaRPr lang="pl-PL" sz="2200" dirty="0"/>
          </a:p>
        </p:txBody>
      </p:sp>
    </p:spTree>
    <p:extLst>
      <p:ext uri="{BB962C8B-B14F-4D97-AF65-F5344CB8AC3E}">
        <p14:creationId xmlns:p14="http://schemas.microsoft.com/office/powerpoint/2010/main" val="2088130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034FDD1-FA24-020A-CE62-205D2D482609}"/>
              </a:ext>
            </a:extLst>
          </p:cNvPr>
          <p:cNvSpPr>
            <a:spLocks noGrp="1"/>
          </p:cNvSpPr>
          <p:nvPr>
            <p:ph type="title"/>
          </p:nvPr>
        </p:nvSpPr>
        <p:spPr/>
        <p:txBody>
          <a:bodyPr/>
          <a:lstStyle/>
          <a:p>
            <a:r>
              <a:rPr lang="pl-PL" dirty="0"/>
              <a:t>1. Analiza danych</a:t>
            </a:r>
          </a:p>
        </p:txBody>
      </p:sp>
      <p:sp>
        <p:nvSpPr>
          <p:cNvPr id="3" name="Symbol zastępczy zawartości 2">
            <a:extLst>
              <a:ext uri="{FF2B5EF4-FFF2-40B4-BE49-F238E27FC236}">
                <a16:creationId xmlns:a16="http://schemas.microsoft.com/office/drawing/2014/main" id="{CC395204-5A72-63AF-A796-2E497E6C347E}"/>
              </a:ext>
            </a:extLst>
          </p:cNvPr>
          <p:cNvSpPr>
            <a:spLocks noGrp="1"/>
          </p:cNvSpPr>
          <p:nvPr>
            <p:ph idx="1"/>
          </p:nvPr>
        </p:nvSpPr>
        <p:spPr>
          <a:xfrm>
            <a:off x="1371600" y="2286000"/>
            <a:ext cx="4518561" cy="3581400"/>
          </a:xfrm>
        </p:spPr>
        <p:txBody>
          <a:bodyPr/>
          <a:lstStyle/>
          <a:p>
            <a:r>
              <a:rPr lang="pl-PL" dirty="0" err="1"/>
              <a:t>gender</a:t>
            </a:r>
            <a:r>
              <a:rPr lang="pl-PL" dirty="0"/>
              <a:t> - "Male", "</a:t>
            </a:r>
            <a:r>
              <a:rPr lang="pl-PL" dirty="0" err="1"/>
              <a:t>Female</a:t>
            </a:r>
            <a:r>
              <a:rPr lang="pl-PL" dirty="0"/>
              <a:t>" </a:t>
            </a:r>
            <a:r>
              <a:rPr lang="pl-PL" dirty="0" err="1"/>
              <a:t>or</a:t>
            </a:r>
            <a:r>
              <a:rPr lang="pl-PL" dirty="0"/>
              <a:t> "</a:t>
            </a:r>
            <a:r>
              <a:rPr lang="pl-PL" dirty="0" err="1"/>
              <a:t>Other</a:t>
            </a:r>
            <a:r>
              <a:rPr lang="pl-PL" dirty="0"/>
              <a:t>”</a:t>
            </a:r>
          </a:p>
          <a:p>
            <a:r>
              <a:rPr lang="pl-PL" dirty="0" err="1"/>
              <a:t>ever_married</a:t>
            </a:r>
            <a:r>
              <a:rPr lang="pl-PL" dirty="0"/>
              <a:t> – ”</a:t>
            </a:r>
            <a:r>
              <a:rPr lang="pl-PL" dirty="0" err="1"/>
              <a:t>Yes</a:t>
            </a:r>
            <a:r>
              <a:rPr lang="pl-PL" dirty="0"/>
              <a:t>” </a:t>
            </a:r>
            <a:r>
              <a:rPr lang="pl-PL" dirty="0" err="1"/>
              <a:t>or</a:t>
            </a:r>
            <a:r>
              <a:rPr lang="pl-PL" dirty="0"/>
              <a:t> „No”</a:t>
            </a:r>
          </a:p>
          <a:p>
            <a:r>
              <a:rPr lang="pl-PL" dirty="0" err="1"/>
              <a:t>work_type</a:t>
            </a:r>
            <a:r>
              <a:rPr lang="pl-PL" dirty="0"/>
              <a:t> - "</a:t>
            </a:r>
            <a:r>
              <a:rPr lang="pl-PL" dirty="0" err="1"/>
              <a:t>children</a:t>
            </a:r>
            <a:r>
              <a:rPr lang="pl-PL" dirty="0"/>
              <a:t>", "</a:t>
            </a:r>
            <a:r>
              <a:rPr lang="pl-PL" dirty="0" err="1"/>
              <a:t>Govt_jov</a:t>
            </a:r>
            <a:r>
              <a:rPr lang="pl-PL" dirty="0"/>
              <a:t>", "</a:t>
            </a:r>
            <a:r>
              <a:rPr lang="pl-PL" dirty="0" err="1"/>
              <a:t>Never_worked</a:t>
            </a:r>
            <a:r>
              <a:rPr lang="pl-PL" dirty="0"/>
              <a:t>", "</a:t>
            </a:r>
            <a:r>
              <a:rPr lang="pl-PL" dirty="0" err="1"/>
              <a:t>Private</a:t>
            </a:r>
            <a:r>
              <a:rPr lang="pl-PL" dirty="0"/>
              <a:t>" </a:t>
            </a:r>
            <a:r>
              <a:rPr lang="pl-PL" dirty="0" err="1"/>
              <a:t>or</a:t>
            </a:r>
            <a:r>
              <a:rPr lang="pl-PL" dirty="0"/>
              <a:t> "</a:t>
            </a:r>
            <a:r>
              <a:rPr lang="pl-PL" dirty="0" err="1"/>
              <a:t>Self-employed</a:t>
            </a:r>
            <a:r>
              <a:rPr lang="pl-PL" dirty="0"/>
              <a:t>”</a:t>
            </a:r>
          </a:p>
          <a:p>
            <a:r>
              <a:rPr lang="pl-PL" dirty="0" err="1"/>
              <a:t>Residence_type</a:t>
            </a:r>
            <a:r>
              <a:rPr lang="pl-PL" dirty="0"/>
              <a:t> - "</a:t>
            </a:r>
            <a:r>
              <a:rPr lang="pl-PL" dirty="0" err="1"/>
              <a:t>Rural</a:t>
            </a:r>
            <a:r>
              <a:rPr lang="pl-PL" dirty="0"/>
              <a:t>" </a:t>
            </a:r>
            <a:r>
              <a:rPr lang="pl-PL" dirty="0" err="1"/>
              <a:t>or</a:t>
            </a:r>
            <a:r>
              <a:rPr lang="pl-PL" dirty="0"/>
              <a:t> "Urban”</a:t>
            </a:r>
          </a:p>
          <a:p>
            <a:r>
              <a:rPr lang="pl-PL" dirty="0" err="1"/>
              <a:t>smoking_status</a:t>
            </a:r>
            <a:r>
              <a:rPr lang="pl-PL" dirty="0"/>
              <a:t> - "</a:t>
            </a:r>
            <a:r>
              <a:rPr lang="pl-PL" dirty="0" err="1"/>
              <a:t>formerly</a:t>
            </a:r>
            <a:r>
              <a:rPr lang="pl-PL" dirty="0"/>
              <a:t> </a:t>
            </a:r>
            <a:r>
              <a:rPr lang="pl-PL" dirty="0" err="1"/>
              <a:t>smoked</a:t>
            </a:r>
            <a:r>
              <a:rPr lang="pl-PL" dirty="0"/>
              <a:t>", "</a:t>
            </a:r>
            <a:r>
              <a:rPr lang="pl-PL" dirty="0" err="1"/>
              <a:t>never</a:t>
            </a:r>
            <a:r>
              <a:rPr lang="pl-PL" dirty="0"/>
              <a:t> </a:t>
            </a:r>
            <a:r>
              <a:rPr lang="pl-PL" dirty="0" err="1"/>
              <a:t>smoked</a:t>
            </a:r>
            <a:r>
              <a:rPr lang="pl-PL" dirty="0"/>
              <a:t>", "</a:t>
            </a:r>
            <a:r>
              <a:rPr lang="pl-PL" dirty="0" err="1"/>
              <a:t>smokes</a:t>
            </a:r>
            <a:r>
              <a:rPr lang="pl-PL" dirty="0"/>
              <a:t>" </a:t>
            </a:r>
            <a:r>
              <a:rPr lang="pl-PL" dirty="0" err="1"/>
              <a:t>or</a:t>
            </a:r>
            <a:r>
              <a:rPr lang="pl-PL" dirty="0"/>
              <a:t> "</a:t>
            </a:r>
            <a:r>
              <a:rPr lang="pl-PL" dirty="0" err="1"/>
              <a:t>Unknown</a:t>
            </a:r>
            <a:r>
              <a:rPr lang="pl-PL" dirty="0"/>
              <a:t>"</a:t>
            </a:r>
            <a:br>
              <a:rPr lang="pl-PL" dirty="0"/>
            </a:br>
            <a:endParaRPr lang="pl-PL" dirty="0"/>
          </a:p>
        </p:txBody>
      </p:sp>
      <p:pic>
        <p:nvPicPr>
          <p:cNvPr id="4" name="Obraz 3">
            <a:extLst>
              <a:ext uri="{FF2B5EF4-FFF2-40B4-BE49-F238E27FC236}">
                <a16:creationId xmlns:a16="http://schemas.microsoft.com/office/drawing/2014/main" id="{7FCE7AAE-EFF7-6A6A-5D6C-7ED1FBCD10B8}"/>
              </a:ext>
            </a:extLst>
          </p:cNvPr>
          <p:cNvPicPr>
            <a:picLocks noChangeAspect="1"/>
          </p:cNvPicPr>
          <p:nvPr/>
        </p:nvPicPr>
        <p:blipFill>
          <a:blip r:embed="rId2"/>
          <a:stretch>
            <a:fillRect/>
          </a:stretch>
        </p:blipFill>
        <p:spPr>
          <a:xfrm>
            <a:off x="6447806" y="1943100"/>
            <a:ext cx="5257800" cy="3924300"/>
          </a:xfrm>
          <a:prstGeom prst="rect">
            <a:avLst/>
          </a:prstGeom>
        </p:spPr>
      </p:pic>
    </p:spTree>
    <p:extLst>
      <p:ext uri="{BB962C8B-B14F-4D97-AF65-F5344CB8AC3E}">
        <p14:creationId xmlns:p14="http://schemas.microsoft.com/office/powerpoint/2010/main" val="230212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E68C8A50-E0F6-52A9-B1B4-A56B4FCD8722}"/>
              </a:ext>
            </a:extLst>
          </p:cNvPr>
          <p:cNvSpPr>
            <a:spLocks noGrp="1"/>
          </p:cNvSpPr>
          <p:nvPr>
            <p:ph idx="1"/>
          </p:nvPr>
        </p:nvSpPr>
        <p:spPr>
          <a:xfrm>
            <a:off x="1382109" y="278524"/>
            <a:ext cx="9601200" cy="2359573"/>
          </a:xfrm>
        </p:spPr>
        <p:txBody>
          <a:bodyPr>
            <a:normAutofit lnSpcReduction="10000"/>
          </a:bodyPr>
          <a:lstStyle/>
          <a:p>
            <a:r>
              <a:rPr lang="pl-PL" dirty="0"/>
              <a:t>Ze wstępnej analizy danych można zauważyć, że kolumny </a:t>
            </a:r>
            <a:r>
              <a:rPr lang="pl-PL" dirty="0" err="1"/>
              <a:t>hypertension</a:t>
            </a:r>
            <a:r>
              <a:rPr lang="pl-PL" dirty="0"/>
              <a:t> i </a:t>
            </a:r>
            <a:r>
              <a:rPr lang="pl-PL" dirty="0" err="1"/>
              <a:t>heart_disease</a:t>
            </a:r>
            <a:r>
              <a:rPr lang="pl-PL" dirty="0"/>
              <a:t> są binarne (Prawda/Fałsz)</a:t>
            </a:r>
          </a:p>
          <a:p>
            <a:r>
              <a:rPr lang="pl-PL" dirty="0"/>
              <a:t>Dla </a:t>
            </a:r>
            <a:r>
              <a:rPr lang="pl-PL" dirty="0" err="1"/>
              <a:t>heart_disease</a:t>
            </a:r>
            <a:r>
              <a:rPr lang="pl-PL" dirty="0"/>
              <a:t> i </a:t>
            </a:r>
            <a:r>
              <a:rPr lang="pl-PL" dirty="0" err="1"/>
              <a:t>stroke</a:t>
            </a:r>
            <a:r>
              <a:rPr lang="pl-PL" dirty="0"/>
              <a:t> średnia wynosi 0.05, co oznacza, że wartości są mocno niezbalansowane</a:t>
            </a:r>
          </a:p>
          <a:p>
            <a:r>
              <a:rPr lang="pl-PL" dirty="0"/>
              <a:t>Widać, że </a:t>
            </a:r>
            <a:r>
              <a:rPr lang="pl-PL" dirty="0" err="1"/>
              <a:t>bmi</a:t>
            </a:r>
            <a:r>
              <a:rPr lang="pl-PL" dirty="0"/>
              <a:t> oraz </a:t>
            </a:r>
            <a:r>
              <a:rPr lang="pl-PL" dirty="0" err="1"/>
              <a:t>avg_glucose_level</a:t>
            </a:r>
            <a:r>
              <a:rPr lang="pl-PL" dirty="0"/>
              <a:t> mogą zwierać dużo </a:t>
            </a:r>
            <a:r>
              <a:rPr lang="pl-PL" dirty="0" err="1"/>
              <a:t>outlierów</a:t>
            </a:r>
            <a:r>
              <a:rPr lang="pl-PL" dirty="0"/>
              <a:t> (przez różnice w max względem średniej i mediany)</a:t>
            </a:r>
          </a:p>
          <a:p>
            <a:r>
              <a:rPr lang="pl-PL" dirty="0"/>
              <a:t>Nasz zbiór danych również zawiera brakujące wartości w kolumnie </a:t>
            </a:r>
            <a:r>
              <a:rPr lang="pl-PL" dirty="0" err="1"/>
              <a:t>bmi</a:t>
            </a:r>
            <a:endParaRPr lang="pl-PL" dirty="0"/>
          </a:p>
        </p:txBody>
      </p:sp>
      <p:pic>
        <p:nvPicPr>
          <p:cNvPr id="4" name="Obraz 3">
            <a:extLst>
              <a:ext uri="{FF2B5EF4-FFF2-40B4-BE49-F238E27FC236}">
                <a16:creationId xmlns:a16="http://schemas.microsoft.com/office/drawing/2014/main" id="{867D8258-FC92-3805-C6AC-FA03E9A70485}"/>
              </a:ext>
            </a:extLst>
          </p:cNvPr>
          <p:cNvPicPr>
            <a:picLocks noChangeAspect="1"/>
          </p:cNvPicPr>
          <p:nvPr/>
        </p:nvPicPr>
        <p:blipFill>
          <a:blip r:embed="rId2"/>
          <a:stretch>
            <a:fillRect/>
          </a:stretch>
        </p:blipFill>
        <p:spPr>
          <a:xfrm>
            <a:off x="1382109" y="2722179"/>
            <a:ext cx="9560371" cy="3779407"/>
          </a:xfrm>
          <a:prstGeom prst="rect">
            <a:avLst/>
          </a:prstGeom>
        </p:spPr>
      </p:pic>
    </p:spTree>
    <p:extLst>
      <p:ext uri="{BB962C8B-B14F-4D97-AF65-F5344CB8AC3E}">
        <p14:creationId xmlns:p14="http://schemas.microsoft.com/office/powerpoint/2010/main" val="4047153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az 3">
            <a:extLst>
              <a:ext uri="{FF2B5EF4-FFF2-40B4-BE49-F238E27FC236}">
                <a16:creationId xmlns:a16="http://schemas.microsoft.com/office/drawing/2014/main" id="{E0A5A791-E7FE-ECDB-F47B-784B4323E3B5}"/>
              </a:ext>
            </a:extLst>
          </p:cNvPr>
          <p:cNvPicPr>
            <a:picLocks noChangeAspect="1"/>
          </p:cNvPicPr>
          <p:nvPr/>
        </p:nvPicPr>
        <p:blipFill>
          <a:blip r:embed="rId2"/>
          <a:stretch>
            <a:fillRect/>
          </a:stretch>
        </p:blipFill>
        <p:spPr>
          <a:xfrm>
            <a:off x="1460938" y="368110"/>
            <a:ext cx="9270124" cy="6121780"/>
          </a:xfrm>
          <a:prstGeom prst="rect">
            <a:avLst/>
          </a:prstGeom>
        </p:spPr>
      </p:pic>
    </p:spTree>
    <p:extLst>
      <p:ext uri="{BB962C8B-B14F-4D97-AF65-F5344CB8AC3E}">
        <p14:creationId xmlns:p14="http://schemas.microsoft.com/office/powerpoint/2010/main" val="11150936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EE00D14-F274-8B68-A843-C0EFC142D075}"/>
              </a:ext>
            </a:extLst>
          </p:cNvPr>
          <p:cNvSpPr>
            <a:spLocks noGrp="1"/>
          </p:cNvSpPr>
          <p:nvPr>
            <p:ph type="title"/>
          </p:nvPr>
        </p:nvSpPr>
        <p:spPr/>
        <p:txBody>
          <a:bodyPr/>
          <a:lstStyle/>
          <a:p>
            <a:r>
              <a:rPr lang="pl-PL" dirty="0" err="1"/>
              <a:t>Outliery</a:t>
            </a:r>
            <a:endParaRPr lang="pl-PL" dirty="0"/>
          </a:p>
        </p:txBody>
      </p:sp>
      <p:sp>
        <p:nvSpPr>
          <p:cNvPr id="3" name="Symbol zastępczy zawartości 2">
            <a:extLst>
              <a:ext uri="{FF2B5EF4-FFF2-40B4-BE49-F238E27FC236}">
                <a16:creationId xmlns:a16="http://schemas.microsoft.com/office/drawing/2014/main" id="{C046E125-5FA5-52A4-F3FA-23C73A734557}"/>
              </a:ext>
            </a:extLst>
          </p:cNvPr>
          <p:cNvSpPr>
            <a:spLocks noGrp="1"/>
          </p:cNvSpPr>
          <p:nvPr>
            <p:ph idx="1"/>
          </p:nvPr>
        </p:nvSpPr>
        <p:spPr>
          <a:xfrm>
            <a:off x="1371600" y="1960179"/>
            <a:ext cx="9601200" cy="898635"/>
          </a:xfrm>
        </p:spPr>
        <p:txBody>
          <a:bodyPr/>
          <a:lstStyle/>
          <a:p>
            <a:r>
              <a:rPr lang="pl-PL" dirty="0"/>
              <a:t>Mamy dużo </a:t>
            </a:r>
            <a:r>
              <a:rPr lang="pl-PL" dirty="0" err="1"/>
              <a:t>outlierów</a:t>
            </a:r>
            <a:r>
              <a:rPr lang="pl-PL" dirty="0"/>
              <a:t> w </a:t>
            </a:r>
            <a:r>
              <a:rPr lang="pl-PL" dirty="0" err="1"/>
              <a:t>avg_glucose_level</a:t>
            </a:r>
            <a:r>
              <a:rPr lang="pl-PL" dirty="0"/>
              <a:t> i </a:t>
            </a:r>
            <a:r>
              <a:rPr lang="pl-PL" dirty="0" err="1"/>
              <a:t>bmi</a:t>
            </a:r>
            <a:r>
              <a:rPr lang="pl-PL" dirty="0"/>
              <a:t>, nie powinniśmy ich usuwać ponieważ są to dane wpływające na szansę zawału (np. zaawansowana cukrzyca) </a:t>
            </a:r>
          </a:p>
        </p:txBody>
      </p:sp>
      <p:pic>
        <p:nvPicPr>
          <p:cNvPr id="4" name="Obraz 3">
            <a:extLst>
              <a:ext uri="{FF2B5EF4-FFF2-40B4-BE49-F238E27FC236}">
                <a16:creationId xmlns:a16="http://schemas.microsoft.com/office/drawing/2014/main" id="{66F37549-8B46-3498-0CFF-623FBF4D2E97}"/>
              </a:ext>
            </a:extLst>
          </p:cNvPr>
          <p:cNvPicPr>
            <a:picLocks noChangeAspect="1"/>
          </p:cNvPicPr>
          <p:nvPr/>
        </p:nvPicPr>
        <p:blipFill>
          <a:blip r:embed="rId2"/>
          <a:stretch>
            <a:fillRect/>
          </a:stretch>
        </p:blipFill>
        <p:spPr>
          <a:xfrm>
            <a:off x="1106213" y="2954938"/>
            <a:ext cx="10476682" cy="3462725"/>
          </a:xfrm>
          <a:prstGeom prst="rect">
            <a:avLst/>
          </a:prstGeom>
        </p:spPr>
      </p:pic>
    </p:spTree>
    <p:extLst>
      <p:ext uri="{BB962C8B-B14F-4D97-AF65-F5344CB8AC3E}">
        <p14:creationId xmlns:p14="http://schemas.microsoft.com/office/powerpoint/2010/main" val="28587559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499629A-4563-4067-44C5-F3F0D9177C20}"/>
              </a:ext>
            </a:extLst>
          </p:cNvPr>
          <p:cNvSpPr>
            <a:spLocks noGrp="1"/>
          </p:cNvSpPr>
          <p:nvPr>
            <p:ph type="title"/>
          </p:nvPr>
        </p:nvSpPr>
        <p:spPr/>
        <p:txBody>
          <a:bodyPr/>
          <a:lstStyle/>
          <a:p>
            <a:r>
              <a:rPr lang="pl-PL" dirty="0"/>
              <a:t>Macierz korelacji</a:t>
            </a:r>
          </a:p>
        </p:txBody>
      </p:sp>
      <p:sp>
        <p:nvSpPr>
          <p:cNvPr id="3" name="Symbol zastępczy zawartości 2">
            <a:extLst>
              <a:ext uri="{FF2B5EF4-FFF2-40B4-BE49-F238E27FC236}">
                <a16:creationId xmlns:a16="http://schemas.microsoft.com/office/drawing/2014/main" id="{51E82011-5C22-E528-4DA6-026077082F74}"/>
              </a:ext>
            </a:extLst>
          </p:cNvPr>
          <p:cNvSpPr>
            <a:spLocks noGrp="1"/>
          </p:cNvSpPr>
          <p:nvPr>
            <p:ph idx="1"/>
          </p:nvPr>
        </p:nvSpPr>
        <p:spPr>
          <a:xfrm>
            <a:off x="1371600" y="2286000"/>
            <a:ext cx="3526221" cy="3581400"/>
          </a:xfrm>
        </p:spPr>
        <p:txBody>
          <a:bodyPr/>
          <a:lstStyle/>
          <a:p>
            <a:r>
              <a:rPr lang="pl-PL" dirty="0"/>
              <a:t>Widać korelacje pomiędzy wiekiem, a zawałem serca. Ogólnie, im wyższy wiek, tym więcej dolegliwości u danej osoby widać w danych.</a:t>
            </a:r>
          </a:p>
          <a:p>
            <a:r>
              <a:rPr lang="pl-PL" dirty="0"/>
              <a:t>Widać też, że nasza kolumna </a:t>
            </a:r>
            <a:r>
              <a:rPr lang="pl-PL" dirty="0" err="1"/>
              <a:t>bmi</a:t>
            </a:r>
            <a:r>
              <a:rPr lang="pl-PL" dirty="0"/>
              <a:t> z brakującymi wartościami ma silne powiązanie z wiekiem.</a:t>
            </a:r>
          </a:p>
        </p:txBody>
      </p:sp>
      <p:pic>
        <p:nvPicPr>
          <p:cNvPr id="4" name="Obraz 3">
            <a:extLst>
              <a:ext uri="{FF2B5EF4-FFF2-40B4-BE49-F238E27FC236}">
                <a16:creationId xmlns:a16="http://schemas.microsoft.com/office/drawing/2014/main" id="{4BCBAC30-F363-1527-78FC-8055B2041DBC}"/>
              </a:ext>
            </a:extLst>
          </p:cNvPr>
          <p:cNvPicPr>
            <a:picLocks noChangeAspect="1"/>
          </p:cNvPicPr>
          <p:nvPr/>
        </p:nvPicPr>
        <p:blipFill>
          <a:blip r:embed="rId2"/>
          <a:stretch>
            <a:fillRect/>
          </a:stretch>
        </p:blipFill>
        <p:spPr>
          <a:xfrm>
            <a:off x="5877911" y="1085193"/>
            <a:ext cx="5807147" cy="5273566"/>
          </a:xfrm>
          <a:prstGeom prst="rect">
            <a:avLst/>
          </a:prstGeom>
        </p:spPr>
      </p:pic>
    </p:spTree>
    <p:extLst>
      <p:ext uri="{BB962C8B-B14F-4D97-AF65-F5344CB8AC3E}">
        <p14:creationId xmlns:p14="http://schemas.microsoft.com/office/powerpoint/2010/main" val="19820059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az 3">
            <a:extLst>
              <a:ext uri="{FF2B5EF4-FFF2-40B4-BE49-F238E27FC236}">
                <a16:creationId xmlns:a16="http://schemas.microsoft.com/office/drawing/2014/main" id="{694E3963-B388-24F4-5068-FF8FA329E972}"/>
              </a:ext>
            </a:extLst>
          </p:cNvPr>
          <p:cNvPicPr>
            <a:picLocks noChangeAspect="1"/>
          </p:cNvPicPr>
          <p:nvPr/>
        </p:nvPicPr>
        <p:blipFill>
          <a:blip r:embed="rId2"/>
          <a:stretch>
            <a:fillRect/>
          </a:stretch>
        </p:blipFill>
        <p:spPr>
          <a:xfrm>
            <a:off x="987221" y="714228"/>
            <a:ext cx="10217558" cy="5429544"/>
          </a:xfrm>
          <a:prstGeom prst="rect">
            <a:avLst/>
          </a:prstGeom>
        </p:spPr>
      </p:pic>
    </p:spTree>
    <p:extLst>
      <p:ext uri="{BB962C8B-B14F-4D97-AF65-F5344CB8AC3E}">
        <p14:creationId xmlns:p14="http://schemas.microsoft.com/office/powerpoint/2010/main" val="17415841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A8C9BD4-B35E-F1BF-9949-593E798399A9}"/>
              </a:ext>
            </a:extLst>
          </p:cNvPr>
          <p:cNvSpPr>
            <a:spLocks noGrp="1"/>
          </p:cNvSpPr>
          <p:nvPr>
            <p:ph type="title"/>
          </p:nvPr>
        </p:nvSpPr>
        <p:spPr/>
        <p:txBody>
          <a:bodyPr/>
          <a:lstStyle/>
          <a:p>
            <a:r>
              <a:rPr lang="pl-PL" dirty="0"/>
              <a:t>2. Przygotowanie danych</a:t>
            </a:r>
          </a:p>
        </p:txBody>
      </p:sp>
      <p:sp>
        <p:nvSpPr>
          <p:cNvPr id="3" name="Symbol zastępczy zawartości 2">
            <a:extLst>
              <a:ext uri="{FF2B5EF4-FFF2-40B4-BE49-F238E27FC236}">
                <a16:creationId xmlns:a16="http://schemas.microsoft.com/office/drawing/2014/main" id="{234FE9E4-E718-8F46-0077-FBFAD097840E}"/>
              </a:ext>
            </a:extLst>
          </p:cNvPr>
          <p:cNvSpPr>
            <a:spLocks noGrp="1"/>
          </p:cNvSpPr>
          <p:nvPr>
            <p:ph idx="1"/>
          </p:nvPr>
        </p:nvSpPr>
        <p:spPr>
          <a:xfrm>
            <a:off x="1371600" y="1823544"/>
            <a:ext cx="9601200" cy="4440621"/>
          </a:xfrm>
        </p:spPr>
        <p:txBody>
          <a:bodyPr/>
          <a:lstStyle/>
          <a:p>
            <a:r>
              <a:rPr lang="pl-PL" dirty="0"/>
              <a:t>Pierwsze co robimy to usuwamy zbędną kolumnę id</a:t>
            </a:r>
          </a:p>
          <a:p>
            <a:endParaRPr lang="pl-PL" dirty="0"/>
          </a:p>
          <a:p>
            <a:r>
              <a:rPr lang="pl-PL" dirty="0"/>
              <a:t>Następnie przekształcamy dane w całkowicie numeryczne (One-hot </a:t>
            </a:r>
            <a:r>
              <a:rPr lang="pl-PL" dirty="0" err="1"/>
              <a:t>encoding</a:t>
            </a:r>
            <a:r>
              <a:rPr lang="pl-PL" dirty="0"/>
              <a:t>)</a:t>
            </a:r>
          </a:p>
          <a:p>
            <a:endParaRPr lang="pl-PL" dirty="0"/>
          </a:p>
          <a:p>
            <a:r>
              <a:rPr lang="pl-PL" dirty="0"/>
              <a:t>Później dzielimy dane na zbiór testowy i treningowy</a:t>
            </a:r>
          </a:p>
          <a:p>
            <a:endParaRPr lang="pl-PL" dirty="0"/>
          </a:p>
          <a:p>
            <a:endParaRPr lang="pl-PL" dirty="0"/>
          </a:p>
          <a:p>
            <a:r>
              <a:rPr lang="pl-PL" dirty="0"/>
              <a:t>Na końcu standaryzujemy dane</a:t>
            </a:r>
          </a:p>
        </p:txBody>
      </p:sp>
      <p:pic>
        <p:nvPicPr>
          <p:cNvPr id="4" name="Obraz 3">
            <a:extLst>
              <a:ext uri="{FF2B5EF4-FFF2-40B4-BE49-F238E27FC236}">
                <a16:creationId xmlns:a16="http://schemas.microsoft.com/office/drawing/2014/main" id="{E1329207-D990-CCB4-D02D-B4D5B0B42DD8}"/>
              </a:ext>
            </a:extLst>
          </p:cNvPr>
          <p:cNvPicPr>
            <a:picLocks noChangeAspect="1"/>
          </p:cNvPicPr>
          <p:nvPr/>
        </p:nvPicPr>
        <p:blipFill>
          <a:blip r:embed="rId2"/>
          <a:stretch>
            <a:fillRect/>
          </a:stretch>
        </p:blipFill>
        <p:spPr>
          <a:xfrm>
            <a:off x="1494220" y="2284686"/>
            <a:ext cx="3319517" cy="298756"/>
          </a:xfrm>
          <a:prstGeom prst="rect">
            <a:avLst/>
          </a:prstGeom>
        </p:spPr>
      </p:pic>
      <p:pic>
        <p:nvPicPr>
          <p:cNvPr id="5" name="Obraz 4">
            <a:extLst>
              <a:ext uri="{FF2B5EF4-FFF2-40B4-BE49-F238E27FC236}">
                <a16:creationId xmlns:a16="http://schemas.microsoft.com/office/drawing/2014/main" id="{845602B8-5832-F295-C22D-C8065C50AB34}"/>
              </a:ext>
            </a:extLst>
          </p:cNvPr>
          <p:cNvPicPr>
            <a:picLocks noChangeAspect="1"/>
          </p:cNvPicPr>
          <p:nvPr/>
        </p:nvPicPr>
        <p:blipFill>
          <a:blip r:embed="rId3"/>
          <a:stretch>
            <a:fillRect/>
          </a:stretch>
        </p:blipFill>
        <p:spPr>
          <a:xfrm>
            <a:off x="1494220" y="4043854"/>
            <a:ext cx="7772400" cy="778419"/>
          </a:xfrm>
          <a:prstGeom prst="rect">
            <a:avLst/>
          </a:prstGeom>
        </p:spPr>
      </p:pic>
      <p:pic>
        <p:nvPicPr>
          <p:cNvPr id="6" name="Obraz 5">
            <a:extLst>
              <a:ext uri="{FF2B5EF4-FFF2-40B4-BE49-F238E27FC236}">
                <a16:creationId xmlns:a16="http://schemas.microsoft.com/office/drawing/2014/main" id="{7AE920BF-ECAE-BE84-9199-35F08AD43E57}"/>
              </a:ext>
            </a:extLst>
          </p:cNvPr>
          <p:cNvPicPr>
            <a:picLocks noChangeAspect="1"/>
          </p:cNvPicPr>
          <p:nvPr/>
        </p:nvPicPr>
        <p:blipFill>
          <a:blip r:embed="rId4"/>
          <a:stretch>
            <a:fillRect/>
          </a:stretch>
        </p:blipFill>
        <p:spPr>
          <a:xfrm>
            <a:off x="1494220" y="5357647"/>
            <a:ext cx="5727700" cy="965200"/>
          </a:xfrm>
          <a:prstGeom prst="rect">
            <a:avLst/>
          </a:prstGeom>
        </p:spPr>
      </p:pic>
      <p:pic>
        <p:nvPicPr>
          <p:cNvPr id="8" name="Obraz 7">
            <a:extLst>
              <a:ext uri="{FF2B5EF4-FFF2-40B4-BE49-F238E27FC236}">
                <a16:creationId xmlns:a16="http://schemas.microsoft.com/office/drawing/2014/main" id="{74423510-B9B9-834B-2888-AF7E89D7F01B}"/>
              </a:ext>
            </a:extLst>
          </p:cNvPr>
          <p:cNvPicPr>
            <a:picLocks noChangeAspect="1"/>
          </p:cNvPicPr>
          <p:nvPr/>
        </p:nvPicPr>
        <p:blipFill>
          <a:blip r:embed="rId5"/>
          <a:stretch>
            <a:fillRect/>
          </a:stretch>
        </p:blipFill>
        <p:spPr>
          <a:xfrm>
            <a:off x="1494220" y="3137190"/>
            <a:ext cx="5418959" cy="316986"/>
          </a:xfrm>
          <a:prstGeom prst="rect">
            <a:avLst/>
          </a:prstGeom>
        </p:spPr>
      </p:pic>
    </p:spTree>
    <p:extLst>
      <p:ext uri="{BB962C8B-B14F-4D97-AF65-F5344CB8AC3E}">
        <p14:creationId xmlns:p14="http://schemas.microsoft.com/office/powerpoint/2010/main" val="753643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C0D2607-B94B-5654-3B33-6AD27F758A0C}"/>
              </a:ext>
            </a:extLst>
          </p:cNvPr>
          <p:cNvSpPr>
            <a:spLocks noGrp="1"/>
          </p:cNvSpPr>
          <p:nvPr>
            <p:ph type="title"/>
          </p:nvPr>
        </p:nvSpPr>
        <p:spPr/>
        <p:txBody>
          <a:bodyPr/>
          <a:lstStyle/>
          <a:p>
            <a:r>
              <a:rPr lang="pl-PL" dirty="0"/>
              <a:t>Brakujące dane</a:t>
            </a:r>
          </a:p>
        </p:txBody>
      </p:sp>
      <p:sp>
        <p:nvSpPr>
          <p:cNvPr id="3" name="Symbol zastępczy zawartości 2">
            <a:extLst>
              <a:ext uri="{FF2B5EF4-FFF2-40B4-BE49-F238E27FC236}">
                <a16:creationId xmlns:a16="http://schemas.microsoft.com/office/drawing/2014/main" id="{994F40C5-5AA9-5058-250A-E19828AF0399}"/>
              </a:ext>
            </a:extLst>
          </p:cNvPr>
          <p:cNvSpPr>
            <a:spLocks noGrp="1"/>
          </p:cNvSpPr>
          <p:nvPr>
            <p:ph idx="1"/>
          </p:nvPr>
        </p:nvSpPr>
        <p:spPr>
          <a:xfrm>
            <a:off x="1371600" y="2091560"/>
            <a:ext cx="6458607" cy="2594742"/>
          </a:xfrm>
        </p:spPr>
        <p:txBody>
          <a:bodyPr>
            <a:normAutofit/>
          </a:bodyPr>
          <a:lstStyle/>
          <a:p>
            <a:r>
              <a:rPr lang="pl-PL" dirty="0"/>
              <a:t>Spośród 12 kolumn, jedna (</a:t>
            </a:r>
            <a:r>
              <a:rPr lang="pl-PL" dirty="0" err="1"/>
              <a:t>bmi</a:t>
            </a:r>
            <a:r>
              <a:rPr lang="pl-PL" dirty="0"/>
              <a:t>) zawiera puste wartości</a:t>
            </a:r>
          </a:p>
          <a:p>
            <a:r>
              <a:rPr lang="pl-PL" dirty="0"/>
              <a:t>Zostały one uzupełnione medianą </a:t>
            </a:r>
            <a:r>
              <a:rPr lang="pl-PL" dirty="0" err="1"/>
              <a:t>bmi</a:t>
            </a:r>
            <a:r>
              <a:rPr lang="pl-PL" dirty="0"/>
              <a:t> z osób w tym samym wieku</a:t>
            </a:r>
          </a:p>
        </p:txBody>
      </p:sp>
      <p:pic>
        <p:nvPicPr>
          <p:cNvPr id="4" name="Obraz 3">
            <a:extLst>
              <a:ext uri="{FF2B5EF4-FFF2-40B4-BE49-F238E27FC236}">
                <a16:creationId xmlns:a16="http://schemas.microsoft.com/office/drawing/2014/main" id="{423F1958-9E78-26AB-F54C-AA545867532F}"/>
              </a:ext>
            </a:extLst>
          </p:cNvPr>
          <p:cNvPicPr>
            <a:picLocks noChangeAspect="1"/>
          </p:cNvPicPr>
          <p:nvPr/>
        </p:nvPicPr>
        <p:blipFill>
          <a:blip r:embed="rId2"/>
          <a:stretch>
            <a:fillRect/>
          </a:stretch>
        </p:blipFill>
        <p:spPr>
          <a:xfrm>
            <a:off x="8483600" y="685800"/>
            <a:ext cx="2489200" cy="5461000"/>
          </a:xfrm>
          <a:prstGeom prst="rect">
            <a:avLst/>
          </a:prstGeom>
        </p:spPr>
      </p:pic>
      <p:pic>
        <p:nvPicPr>
          <p:cNvPr id="6" name="Obraz 5">
            <a:extLst>
              <a:ext uri="{FF2B5EF4-FFF2-40B4-BE49-F238E27FC236}">
                <a16:creationId xmlns:a16="http://schemas.microsoft.com/office/drawing/2014/main" id="{2236E5D3-6177-302E-7994-A490B4D04260}"/>
              </a:ext>
            </a:extLst>
          </p:cNvPr>
          <p:cNvPicPr>
            <a:picLocks noChangeAspect="1"/>
          </p:cNvPicPr>
          <p:nvPr/>
        </p:nvPicPr>
        <p:blipFill>
          <a:blip r:embed="rId3"/>
          <a:stretch>
            <a:fillRect/>
          </a:stretch>
        </p:blipFill>
        <p:spPr>
          <a:xfrm>
            <a:off x="1219200" y="3814818"/>
            <a:ext cx="6591300" cy="2717800"/>
          </a:xfrm>
          <a:prstGeom prst="rect">
            <a:avLst/>
          </a:prstGeom>
        </p:spPr>
      </p:pic>
    </p:spTree>
    <p:extLst>
      <p:ext uri="{BB962C8B-B14F-4D97-AF65-F5344CB8AC3E}">
        <p14:creationId xmlns:p14="http://schemas.microsoft.com/office/powerpoint/2010/main" val="3429485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BF65A-CA2F-3485-5689-F63D27F18660}"/>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377BDCC-D4D9-6D69-C89A-C4908A7B7ECA}"/>
              </a:ext>
            </a:extLst>
          </p:cNvPr>
          <p:cNvSpPr>
            <a:spLocks noGrp="1"/>
          </p:cNvSpPr>
          <p:nvPr>
            <p:ph type="title"/>
          </p:nvPr>
        </p:nvSpPr>
        <p:spPr/>
        <p:txBody>
          <a:bodyPr/>
          <a:lstStyle/>
          <a:p>
            <a:r>
              <a:rPr lang="pl-PL" dirty="0"/>
              <a:t>3. Badane metryki</a:t>
            </a:r>
          </a:p>
        </p:txBody>
      </p:sp>
      <p:sp>
        <p:nvSpPr>
          <p:cNvPr id="3" name="Symbol zastępczy zawartości 2">
            <a:extLst>
              <a:ext uri="{FF2B5EF4-FFF2-40B4-BE49-F238E27FC236}">
                <a16:creationId xmlns:a16="http://schemas.microsoft.com/office/drawing/2014/main" id="{430F6036-CE29-4AF7-1C2A-79B7DA783CA2}"/>
              </a:ext>
            </a:extLst>
          </p:cNvPr>
          <p:cNvSpPr>
            <a:spLocks noGrp="1"/>
          </p:cNvSpPr>
          <p:nvPr>
            <p:ph idx="1"/>
          </p:nvPr>
        </p:nvSpPr>
        <p:spPr>
          <a:xfrm>
            <a:off x="1371600" y="2096814"/>
            <a:ext cx="9601200" cy="3581400"/>
          </a:xfrm>
        </p:spPr>
        <p:txBody>
          <a:bodyPr>
            <a:normAutofit/>
          </a:bodyPr>
          <a:lstStyle/>
          <a:p>
            <a:r>
              <a:rPr lang="pl-PL" dirty="0"/>
              <a:t>Zysk biznesowy (TP - 0.25*FP) - Autorska funkcja kosztu dostosowana do warunków postawionych w treści zadania, za każdego uratowanego pacjenta - jeden punkt, za każdy fałszywy alarm odejmuje ćwierć punktu. W przypadku dążenia do maksymalizacji tej miary, przez silnie niezbalansowane dane, modele uczą się silnej zachowawczości (przez karę za fałszywe alarmy)</a:t>
            </a:r>
          </a:p>
          <a:p>
            <a:endParaRPr lang="pl-PL" dirty="0"/>
          </a:p>
          <a:p>
            <a:r>
              <a:rPr lang="pl-PL" dirty="0"/>
              <a:t>F2-Score (Nacisk na czułość) - Jest to F-Beta </a:t>
            </a:r>
            <a:r>
              <a:rPr lang="pl-PL" dirty="0" err="1"/>
              <a:t>Score</a:t>
            </a:r>
            <a:r>
              <a:rPr lang="pl-PL" dirty="0"/>
              <a:t> ze współczynnikiem dwa, analogiczna do F1 - tylko czułość jest w niej dwa razy ważniejsza od precyzji - wzór 5*((czułość*precyzja)/(4*precyzja + czułość)). Sprawdza jak model radzi sobie z wykrywaniem zawałów, zwracając mniejszą uwagę na fałszywe alarmy niż F1. </a:t>
            </a:r>
          </a:p>
          <a:p>
            <a:endParaRPr lang="pl-PL" dirty="0"/>
          </a:p>
        </p:txBody>
      </p:sp>
    </p:spTree>
    <p:extLst>
      <p:ext uri="{BB962C8B-B14F-4D97-AF65-F5344CB8AC3E}">
        <p14:creationId xmlns:p14="http://schemas.microsoft.com/office/powerpoint/2010/main" val="2837320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262A0D36-896F-686D-D7CC-BE5F68E48964}"/>
              </a:ext>
            </a:extLst>
          </p:cNvPr>
          <p:cNvSpPr>
            <a:spLocks noGrp="1"/>
          </p:cNvSpPr>
          <p:nvPr>
            <p:ph idx="1"/>
          </p:nvPr>
        </p:nvSpPr>
        <p:spPr>
          <a:xfrm>
            <a:off x="1371600" y="1329558"/>
            <a:ext cx="9601200" cy="4692870"/>
          </a:xfrm>
        </p:spPr>
        <p:txBody>
          <a:bodyPr>
            <a:normAutofit/>
          </a:bodyPr>
          <a:lstStyle/>
          <a:p>
            <a:r>
              <a:rPr lang="pl-PL" sz="2400" dirty="0"/>
              <a:t>ROC AUC - Jest to pole pod krzywą, wyrysowaną używając posortowanych po prawdopodobieństwach predykcji dla FPR i TPR. Mówi o tym jak model potrafi sortować klasy - nie zakładając jednego progu decyzyjnego. Przy niezbilansowanych danych wyniki mogą wychodzić wysokie z powodu łatwego odrzucania osób oczywiście zdrowych.</a:t>
            </a:r>
          </a:p>
          <a:p>
            <a:endParaRPr lang="pl-PL" sz="2400" dirty="0"/>
          </a:p>
          <a:p>
            <a:r>
              <a:rPr lang="pl-PL" sz="2400" dirty="0"/>
              <a:t>PR AUC (</a:t>
            </a:r>
            <a:r>
              <a:rPr lang="pl-PL" sz="2400" dirty="0" err="1"/>
              <a:t>Average</a:t>
            </a:r>
            <a:r>
              <a:rPr lang="pl-PL" sz="2400" dirty="0"/>
              <a:t> Precision) - To pole pod wykresem krzywej precyzja-czułość. Krzywa ta pokazuje jak przy zmieniającym się progu klasyfikacji wygląda precyzja i czułość dla danej klasy. Jest bardziej odporne na niezbalansowane klasy. Lepiej pokazuje jak model klasyfikuje chorych pacjentów.</a:t>
            </a:r>
          </a:p>
          <a:p>
            <a:endParaRPr lang="pl-PL" sz="2300" dirty="0"/>
          </a:p>
        </p:txBody>
      </p:sp>
    </p:spTree>
    <p:extLst>
      <p:ext uri="{BB962C8B-B14F-4D97-AF65-F5344CB8AC3E}">
        <p14:creationId xmlns:p14="http://schemas.microsoft.com/office/powerpoint/2010/main" val="41368387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14DF01B-AC0B-09EC-F160-3AB1225FEF71}"/>
              </a:ext>
            </a:extLst>
          </p:cNvPr>
          <p:cNvSpPr>
            <a:spLocks noGrp="1"/>
          </p:cNvSpPr>
          <p:nvPr>
            <p:ph type="title"/>
          </p:nvPr>
        </p:nvSpPr>
        <p:spPr/>
        <p:txBody>
          <a:bodyPr/>
          <a:lstStyle/>
          <a:p>
            <a:r>
              <a:rPr lang="pl-PL" dirty="0"/>
              <a:t>Model 1 – Drzewo decyzyjne </a:t>
            </a:r>
          </a:p>
        </p:txBody>
      </p:sp>
      <p:sp>
        <p:nvSpPr>
          <p:cNvPr id="3" name="Symbol zastępczy zawartości 2">
            <a:extLst>
              <a:ext uri="{FF2B5EF4-FFF2-40B4-BE49-F238E27FC236}">
                <a16:creationId xmlns:a16="http://schemas.microsoft.com/office/drawing/2014/main" id="{A74EFA00-D58A-48CF-F90A-E1F74649FA77}"/>
              </a:ext>
            </a:extLst>
          </p:cNvPr>
          <p:cNvSpPr>
            <a:spLocks noGrp="1"/>
          </p:cNvSpPr>
          <p:nvPr>
            <p:ph idx="1"/>
          </p:nvPr>
        </p:nvSpPr>
        <p:spPr>
          <a:xfrm>
            <a:off x="1371600" y="3130550"/>
            <a:ext cx="10336924" cy="3385864"/>
          </a:xfrm>
        </p:spPr>
        <p:txBody>
          <a:bodyPr>
            <a:noAutofit/>
          </a:bodyPr>
          <a:lstStyle/>
          <a:p>
            <a:r>
              <a:rPr lang="pl-PL" sz="2100" dirty="0"/>
              <a:t>Powyższe wyniki zostały obliczone na drzewie bez zoptymalizowanych </a:t>
            </a:r>
            <a:r>
              <a:rPr lang="pl-PL" sz="2100" dirty="0" err="1"/>
              <a:t>hiperparametrów</a:t>
            </a:r>
            <a:endParaRPr lang="pl-PL" sz="2100" dirty="0"/>
          </a:p>
          <a:p>
            <a:r>
              <a:rPr lang="pl-PL" sz="2100" dirty="0"/>
              <a:t>Zysk biznesowy - model generuje ogromną liczbę fałszywych alarmów (FP), za które odbieramy mu punkty (-0.25), a jednocześnie niemal w ogóle nie wykrywa prawdziwych zawałów (brak punktów dodatnich za TP).</a:t>
            </a:r>
          </a:p>
          <a:p>
            <a:r>
              <a:rPr lang="pl-PL" sz="2100" dirty="0"/>
              <a:t>ROC AUC - wynik 0.53 oznacza, że to bazowe drzewo nie znalazło absolutnie żadnych sensownych reguł medycznych. Nie potrafi odróżnić pacjenta chorego od zdrowego.</a:t>
            </a:r>
          </a:p>
          <a:p>
            <a:r>
              <a:rPr lang="pl-PL" sz="2100" dirty="0"/>
              <a:t>PR AUC - wynik wynosi ~0.055 (czyli 5.5%). To potwierdza, że precyzja tego modelu jest równa losowemu strzelaniu, ponieważ osób chorych w zbiorze jest ~5%</a:t>
            </a:r>
          </a:p>
          <a:p>
            <a:r>
              <a:rPr lang="pl-PL" sz="2100" dirty="0"/>
              <a:t>F2-Score – wynik 0.11 oznacza, że większość osób z zawałami zostało uznanych za zdrowe</a:t>
            </a:r>
          </a:p>
          <a:p>
            <a:endParaRPr lang="pl-PL" sz="2100" dirty="0"/>
          </a:p>
        </p:txBody>
      </p:sp>
      <p:pic>
        <p:nvPicPr>
          <p:cNvPr id="6" name="Obraz 5">
            <a:extLst>
              <a:ext uri="{FF2B5EF4-FFF2-40B4-BE49-F238E27FC236}">
                <a16:creationId xmlns:a16="http://schemas.microsoft.com/office/drawing/2014/main" id="{D5062F39-108E-BECD-270A-6068F643BBDD}"/>
              </a:ext>
            </a:extLst>
          </p:cNvPr>
          <p:cNvPicPr>
            <a:picLocks noChangeAspect="1"/>
          </p:cNvPicPr>
          <p:nvPr/>
        </p:nvPicPr>
        <p:blipFill>
          <a:blip r:embed="rId2"/>
          <a:stretch>
            <a:fillRect/>
          </a:stretch>
        </p:blipFill>
        <p:spPr>
          <a:xfrm>
            <a:off x="1371600" y="1644650"/>
            <a:ext cx="6489700" cy="1282700"/>
          </a:xfrm>
          <a:prstGeom prst="rect">
            <a:avLst/>
          </a:prstGeom>
        </p:spPr>
      </p:pic>
    </p:spTree>
    <p:extLst>
      <p:ext uri="{BB962C8B-B14F-4D97-AF65-F5344CB8AC3E}">
        <p14:creationId xmlns:p14="http://schemas.microsoft.com/office/powerpoint/2010/main" val="38034330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54FBB2B-7CE4-749F-7DBA-B1411CB752A1}"/>
              </a:ext>
            </a:extLst>
          </p:cNvPr>
          <p:cNvSpPr>
            <a:spLocks noGrp="1"/>
          </p:cNvSpPr>
          <p:nvPr>
            <p:ph type="title"/>
          </p:nvPr>
        </p:nvSpPr>
        <p:spPr/>
        <p:txBody>
          <a:bodyPr/>
          <a:lstStyle/>
          <a:p>
            <a:r>
              <a:rPr lang="pl-PL" dirty="0"/>
              <a:t>Badania </a:t>
            </a:r>
            <a:r>
              <a:rPr lang="pl-PL" dirty="0" err="1"/>
              <a:t>hiperparametrów</a:t>
            </a:r>
            <a:endParaRPr lang="pl-PL" dirty="0"/>
          </a:p>
        </p:txBody>
      </p:sp>
      <p:sp>
        <p:nvSpPr>
          <p:cNvPr id="3" name="Symbol zastępczy zawartości 2">
            <a:extLst>
              <a:ext uri="{FF2B5EF4-FFF2-40B4-BE49-F238E27FC236}">
                <a16:creationId xmlns:a16="http://schemas.microsoft.com/office/drawing/2014/main" id="{623457BD-DA92-C56C-9D7E-5E8DBBC7D286}"/>
              </a:ext>
            </a:extLst>
          </p:cNvPr>
          <p:cNvSpPr>
            <a:spLocks noGrp="1"/>
          </p:cNvSpPr>
          <p:nvPr>
            <p:ph idx="1"/>
          </p:nvPr>
        </p:nvSpPr>
        <p:spPr>
          <a:xfrm>
            <a:off x="1371600" y="2286000"/>
            <a:ext cx="6038193" cy="3581400"/>
          </a:xfrm>
        </p:spPr>
        <p:txBody>
          <a:bodyPr/>
          <a:lstStyle/>
          <a:p>
            <a:r>
              <a:rPr lang="pl-PL" dirty="0" err="1"/>
              <a:t>max_depth</a:t>
            </a:r>
            <a:r>
              <a:rPr lang="pl-PL" dirty="0"/>
              <a:t> – maksymalna głębokość drzewa. Ile „pytań” może drzewo sekwencyjnie zadać przed podjęciem decyzji. Zbyt duże może prowadzić do </a:t>
            </a:r>
            <a:r>
              <a:rPr lang="pl-PL" dirty="0" err="1"/>
              <a:t>overfittingu</a:t>
            </a:r>
            <a:endParaRPr lang="pl-PL" dirty="0"/>
          </a:p>
          <a:p>
            <a:r>
              <a:rPr lang="pl-PL" dirty="0" err="1"/>
              <a:t>min_samples_leaf</a:t>
            </a:r>
            <a:r>
              <a:rPr lang="pl-PL" dirty="0"/>
              <a:t> – minimalna liczba próbek w liściu. Ile musi wystąpić przypadków, aby model uznał regułę za ważną</a:t>
            </a:r>
          </a:p>
          <a:p>
            <a:r>
              <a:rPr lang="pl-PL" dirty="0" err="1"/>
              <a:t>class_weight</a:t>
            </a:r>
            <a:r>
              <a:rPr lang="pl-PL" dirty="0"/>
              <a:t> – wagi klas (nakładanie „kar” za pomyłki).</a:t>
            </a:r>
          </a:p>
          <a:p>
            <a:endParaRPr lang="pl-PL" dirty="0"/>
          </a:p>
        </p:txBody>
      </p:sp>
      <p:pic>
        <p:nvPicPr>
          <p:cNvPr id="7" name="Obraz 6">
            <a:extLst>
              <a:ext uri="{FF2B5EF4-FFF2-40B4-BE49-F238E27FC236}">
                <a16:creationId xmlns:a16="http://schemas.microsoft.com/office/drawing/2014/main" id="{7035BBD0-D33D-48FC-E0F2-51EEB15AA94C}"/>
              </a:ext>
            </a:extLst>
          </p:cNvPr>
          <p:cNvPicPr>
            <a:picLocks noChangeAspect="1"/>
          </p:cNvPicPr>
          <p:nvPr/>
        </p:nvPicPr>
        <p:blipFill>
          <a:blip r:embed="rId2"/>
          <a:stretch>
            <a:fillRect/>
          </a:stretch>
        </p:blipFill>
        <p:spPr>
          <a:xfrm>
            <a:off x="7820135" y="1102491"/>
            <a:ext cx="4140200" cy="2540000"/>
          </a:xfrm>
          <a:prstGeom prst="rect">
            <a:avLst/>
          </a:prstGeom>
        </p:spPr>
      </p:pic>
      <p:pic>
        <p:nvPicPr>
          <p:cNvPr id="8" name="Obraz 7">
            <a:extLst>
              <a:ext uri="{FF2B5EF4-FFF2-40B4-BE49-F238E27FC236}">
                <a16:creationId xmlns:a16="http://schemas.microsoft.com/office/drawing/2014/main" id="{BFF2309E-9750-9FFB-DF1B-04424CF11475}"/>
              </a:ext>
            </a:extLst>
          </p:cNvPr>
          <p:cNvPicPr>
            <a:picLocks noChangeAspect="1"/>
          </p:cNvPicPr>
          <p:nvPr/>
        </p:nvPicPr>
        <p:blipFill>
          <a:blip r:embed="rId3"/>
          <a:stretch>
            <a:fillRect/>
          </a:stretch>
        </p:blipFill>
        <p:spPr>
          <a:xfrm>
            <a:off x="7820133" y="3568700"/>
            <a:ext cx="4140201" cy="2298700"/>
          </a:xfrm>
          <a:prstGeom prst="rect">
            <a:avLst/>
          </a:prstGeom>
        </p:spPr>
      </p:pic>
    </p:spTree>
    <p:extLst>
      <p:ext uri="{BB962C8B-B14F-4D97-AF65-F5344CB8AC3E}">
        <p14:creationId xmlns:p14="http://schemas.microsoft.com/office/powerpoint/2010/main" val="31701804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C2D8B544-0299-7529-49A9-6E326CC7DD67}"/>
              </a:ext>
            </a:extLst>
          </p:cNvPr>
          <p:cNvSpPr>
            <a:spLocks noGrp="1"/>
          </p:cNvSpPr>
          <p:nvPr>
            <p:ph idx="1"/>
          </p:nvPr>
        </p:nvSpPr>
        <p:spPr>
          <a:xfrm>
            <a:off x="1287516" y="634741"/>
            <a:ext cx="10011103" cy="5702997"/>
          </a:xfrm>
        </p:spPr>
        <p:txBody>
          <a:bodyPr>
            <a:normAutofit fontScale="92500" lnSpcReduction="10000"/>
          </a:bodyPr>
          <a:lstStyle/>
          <a:p>
            <a:pPr marL="0" indent="0">
              <a:buNone/>
            </a:pPr>
            <a:endParaRPr lang="pl-PL" dirty="0"/>
          </a:p>
          <a:p>
            <a:endParaRPr lang="pl-PL" dirty="0"/>
          </a:p>
          <a:p>
            <a:r>
              <a:rPr lang="pl-PL" dirty="0"/>
              <a:t>Dla najlepszych znalezionych parametrów badane metryki prezentują się następująco:</a:t>
            </a:r>
          </a:p>
          <a:p>
            <a:endParaRPr lang="pl-PL" dirty="0"/>
          </a:p>
          <a:p>
            <a:endParaRPr lang="pl-PL" dirty="0"/>
          </a:p>
          <a:p>
            <a:endParaRPr lang="pl-PL" dirty="0"/>
          </a:p>
          <a:p>
            <a:endParaRPr lang="pl-PL" dirty="0"/>
          </a:p>
          <a:p>
            <a:endParaRPr lang="pl-PL" dirty="0"/>
          </a:p>
          <a:p>
            <a:r>
              <a:rPr lang="pl-PL" dirty="0"/>
              <a:t>Widać, że model nie „zbankrutował” – zysk biznesowy jest dodatni</a:t>
            </a:r>
          </a:p>
          <a:p>
            <a:r>
              <a:rPr lang="pl-PL" dirty="0"/>
              <a:t>ROC AUC - drzewo skutecznie odseparowało większość (81%) "ewidentnie zdrowych" od grupy ryzyka.</a:t>
            </a:r>
          </a:p>
          <a:p>
            <a:r>
              <a:rPr lang="pl-PL" dirty="0"/>
              <a:t>PR AUC – około 18%. Oznacza, że na 100 pacjentów uznanych przez model za chorych, tylko 18 było faktycznie chorych. Ze względu na to, że zawały danych to rzadkość (ok. 5%), każdy alert ma niską precyzję.</a:t>
            </a:r>
          </a:p>
          <a:p>
            <a:r>
              <a:rPr lang="pl-PL" dirty="0"/>
              <a:t>F2-Score - wynik ten potwierdza, że system woli profilaktycznie podnieść alarm, niż zaryzykować przeoczenie chorego</a:t>
            </a:r>
          </a:p>
        </p:txBody>
      </p:sp>
      <p:pic>
        <p:nvPicPr>
          <p:cNvPr id="4" name="Obraz 3">
            <a:extLst>
              <a:ext uri="{FF2B5EF4-FFF2-40B4-BE49-F238E27FC236}">
                <a16:creationId xmlns:a16="http://schemas.microsoft.com/office/drawing/2014/main" id="{4F98CEDE-5EE8-59F2-B7B1-DA274A64F4DD}"/>
              </a:ext>
            </a:extLst>
          </p:cNvPr>
          <p:cNvPicPr>
            <a:picLocks noChangeAspect="1"/>
          </p:cNvPicPr>
          <p:nvPr/>
        </p:nvPicPr>
        <p:blipFill>
          <a:blip r:embed="rId2"/>
          <a:stretch>
            <a:fillRect/>
          </a:stretch>
        </p:blipFill>
        <p:spPr>
          <a:xfrm>
            <a:off x="1287516" y="739845"/>
            <a:ext cx="7772400" cy="529936"/>
          </a:xfrm>
          <a:prstGeom prst="rect">
            <a:avLst/>
          </a:prstGeom>
        </p:spPr>
      </p:pic>
      <p:pic>
        <p:nvPicPr>
          <p:cNvPr id="5" name="Obraz 4">
            <a:extLst>
              <a:ext uri="{FF2B5EF4-FFF2-40B4-BE49-F238E27FC236}">
                <a16:creationId xmlns:a16="http://schemas.microsoft.com/office/drawing/2014/main" id="{8D460892-1E46-D0BE-2C2A-14E6D1512BA6}"/>
              </a:ext>
            </a:extLst>
          </p:cNvPr>
          <p:cNvPicPr>
            <a:picLocks noChangeAspect="1"/>
          </p:cNvPicPr>
          <p:nvPr/>
        </p:nvPicPr>
        <p:blipFill>
          <a:blip r:embed="rId3"/>
          <a:stretch>
            <a:fillRect/>
          </a:stretch>
        </p:blipFill>
        <p:spPr>
          <a:xfrm>
            <a:off x="1287516" y="2069224"/>
            <a:ext cx="7520153" cy="1476063"/>
          </a:xfrm>
          <a:prstGeom prst="rect">
            <a:avLst/>
          </a:prstGeom>
        </p:spPr>
      </p:pic>
    </p:spTree>
    <p:extLst>
      <p:ext uri="{BB962C8B-B14F-4D97-AF65-F5344CB8AC3E}">
        <p14:creationId xmlns:p14="http://schemas.microsoft.com/office/powerpoint/2010/main" val="181988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5F50E-B7C4-F56A-4037-4A02B7D992B7}"/>
            </a:ext>
          </a:extLst>
        </p:cNvPr>
        <p:cNvGrpSpPr/>
        <p:nvPr/>
      </p:nvGrpSpPr>
      <p:grpSpPr>
        <a:xfrm>
          <a:off x="0" y="0"/>
          <a:ext cx="0" cy="0"/>
          <a:chOff x="0" y="0"/>
          <a:chExt cx="0" cy="0"/>
        </a:xfrm>
      </p:grpSpPr>
      <p:pic>
        <p:nvPicPr>
          <p:cNvPr id="9" name="Obraz 8">
            <a:extLst>
              <a:ext uri="{FF2B5EF4-FFF2-40B4-BE49-F238E27FC236}">
                <a16:creationId xmlns:a16="http://schemas.microsoft.com/office/drawing/2014/main" id="{90412A43-153C-A598-BAEA-F46640B239A5}"/>
              </a:ext>
            </a:extLst>
          </p:cNvPr>
          <p:cNvPicPr>
            <a:picLocks noChangeAspect="1"/>
          </p:cNvPicPr>
          <p:nvPr/>
        </p:nvPicPr>
        <p:blipFill>
          <a:blip r:embed="rId2"/>
          <a:stretch>
            <a:fillRect/>
          </a:stretch>
        </p:blipFill>
        <p:spPr>
          <a:xfrm>
            <a:off x="990915" y="3170929"/>
            <a:ext cx="10210170" cy="3325735"/>
          </a:xfrm>
          <a:prstGeom prst="rect">
            <a:avLst/>
          </a:prstGeom>
        </p:spPr>
      </p:pic>
      <p:sp>
        <p:nvSpPr>
          <p:cNvPr id="12" name="Symbol zastępczy zawartości 2">
            <a:extLst>
              <a:ext uri="{FF2B5EF4-FFF2-40B4-BE49-F238E27FC236}">
                <a16:creationId xmlns:a16="http://schemas.microsoft.com/office/drawing/2014/main" id="{23147CF5-FF62-640B-50E0-A04E641598AE}"/>
              </a:ext>
            </a:extLst>
          </p:cNvPr>
          <p:cNvSpPr>
            <a:spLocks noGrp="1"/>
          </p:cNvSpPr>
          <p:nvPr>
            <p:ph idx="1"/>
          </p:nvPr>
        </p:nvSpPr>
        <p:spPr>
          <a:xfrm>
            <a:off x="1189982" y="130245"/>
            <a:ext cx="10011103" cy="5702997"/>
          </a:xfrm>
        </p:spPr>
        <p:txBody>
          <a:bodyPr>
            <a:normAutofit/>
          </a:bodyPr>
          <a:lstStyle/>
          <a:p>
            <a:pPr marL="0" indent="0">
              <a:buNone/>
            </a:pPr>
            <a:endParaRPr lang="pl-PL" dirty="0"/>
          </a:p>
          <a:p>
            <a:r>
              <a:rPr lang="pl-PL" dirty="0"/>
              <a:t>Na poniższych wykresach widać zjawisko </a:t>
            </a:r>
            <a:r>
              <a:rPr lang="pl-PL" dirty="0" err="1"/>
              <a:t>overfittingu</a:t>
            </a:r>
            <a:r>
              <a:rPr lang="pl-PL" dirty="0"/>
              <a:t> – jak zmiana głębokości drzewa wpływa na skuteczność modelu (</a:t>
            </a:r>
            <a:r>
              <a:rPr lang="pl-PL" dirty="0" err="1"/>
              <a:t>Recall</a:t>
            </a:r>
            <a:r>
              <a:rPr lang="pl-PL" dirty="0"/>
              <a:t> i </a:t>
            </a:r>
            <a:r>
              <a:rPr lang="pl-PL" dirty="0" err="1"/>
              <a:t>Accuracy</a:t>
            </a:r>
            <a:r>
              <a:rPr lang="pl-PL" dirty="0"/>
              <a:t>)</a:t>
            </a:r>
          </a:p>
          <a:p>
            <a:r>
              <a:rPr lang="pl-PL" dirty="0"/>
              <a:t>Głębokość 3-4 są złotym środkiem. To jest ten moment, w którym drzewo wyłapało najważniejsze, ogólne reguły medyczne. Dla głębokości &gt;5 model zaczął zapamiętywać dane treningowe przez co skuteczność była coraz gorsza.</a:t>
            </a:r>
          </a:p>
          <a:p>
            <a:r>
              <a:rPr lang="pl-PL" dirty="0"/>
              <a:t>Dla głębokości = 1 widać, że model miał najlepsze </a:t>
            </a:r>
            <a:r>
              <a:rPr lang="pl-PL" dirty="0" err="1"/>
              <a:t>Acurracy</a:t>
            </a:r>
            <a:r>
              <a:rPr lang="pl-PL" dirty="0"/>
              <a:t>, ponieważ zgadł, że wszyscy są zdrowi, ale przez to też nie rozpoznał żadnego chorego (niski </a:t>
            </a:r>
            <a:r>
              <a:rPr lang="pl-PL" dirty="0" err="1"/>
              <a:t>Recall</a:t>
            </a:r>
            <a:r>
              <a:rPr lang="pl-PL" dirty="0"/>
              <a:t>)</a:t>
            </a:r>
          </a:p>
          <a:p>
            <a:endParaRPr lang="pl-PL" dirty="0"/>
          </a:p>
        </p:txBody>
      </p:sp>
    </p:spTree>
    <p:extLst>
      <p:ext uri="{BB962C8B-B14F-4D97-AF65-F5344CB8AC3E}">
        <p14:creationId xmlns:p14="http://schemas.microsoft.com/office/powerpoint/2010/main" val="33143184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az 4">
            <a:extLst>
              <a:ext uri="{FF2B5EF4-FFF2-40B4-BE49-F238E27FC236}">
                <a16:creationId xmlns:a16="http://schemas.microsoft.com/office/drawing/2014/main" id="{4AAE57A0-E5C2-671D-919D-8A59CB7211BD}"/>
              </a:ext>
            </a:extLst>
          </p:cNvPr>
          <p:cNvPicPr>
            <a:picLocks noChangeAspect="1"/>
          </p:cNvPicPr>
          <p:nvPr/>
        </p:nvPicPr>
        <p:blipFill>
          <a:blip r:embed="rId2"/>
          <a:stretch>
            <a:fillRect/>
          </a:stretch>
        </p:blipFill>
        <p:spPr>
          <a:xfrm>
            <a:off x="778407" y="785752"/>
            <a:ext cx="10635186" cy="5286495"/>
          </a:xfrm>
          <a:prstGeom prst="rect">
            <a:avLst/>
          </a:prstGeom>
        </p:spPr>
      </p:pic>
    </p:spTree>
    <p:extLst>
      <p:ext uri="{BB962C8B-B14F-4D97-AF65-F5344CB8AC3E}">
        <p14:creationId xmlns:p14="http://schemas.microsoft.com/office/powerpoint/2010/main" val="1092616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E2B1A7D-1F01-41F1-47C3-664E197903DA}"/>
              </a:ext>
            </a:extLst>
          </p:cNvPr>
          <p:cNvSpPr>
            <a:spLocks noGrp="1"/>
          </p:cNvSpPr>
          <p:nvPr>
            <p:ph type="title"/>
          </p:nvPr>
        </p:nvSpPr>
        <p:spPr/>
        <p:txBody>
          <a:bodyPr/>
          <a:lstStyle/>
          <a:p>
            <a:r>
              <a:rPr lang="pl-PL" dirty="0"/>
              <a:t>Model 2 – Regresja logistyczna</a:t>
            </a:r>
          </a:p>
        </p:txBody>
      </p:sp>
      <p:sp>
        <p:nvSpPr>
          <p:cNvPr id="3" name="Symbol zastępczy zawartości 2">
            <a:extLst>
              <a:ext uri="{FF2B5EF4-FFF2-40B4-BE49-F238E27FC236}">
                <a16:creationId xmlns:a16="http://schemas.microsoft.com/office/drawing/2014/main" id="{F3E7A083-D7D7-FF57-A357-5D53905F0D0D}"/>
              </a:ext>
            </a:extLst>
          </p:cNvPr>
          <p:cNvSpPr>
            <a:spLocks noGrp="1"/>
          </p:cNvSpPr>
          <p:nvPr>
            <p:ph idx="1"/>
          </p:nvPr>
        </p:nvSpPr>
        <p:spPr>
          <a:xfrm>
            <a:off x="1371600" y="1638299"/>
            <a:ext cx="9601200" cy="4426169"/>
          </a:xfrm>
        </p:spPr>
        <p:txBody>
          <a:bodyPr>
            <a:normAutofit/>
          </a:bodyPr>
          <a:lstStyle/>
          <a:p>
            <a:r>
              <a:rPr lang="pl-PL" sz="2300" dirty="0"/>
              <a:t>Selekcja cech:</a:t>
            </a:r>
          </a:p>
          <a:p>
            <a:endParaRPr lang="pl-PL" sz="2300" dirty="0"/>
          </a:p>
          <a:p>
            <a:endParaRPr lang="pl-PL" sz="2300" dirty="0"/>
          </a:p>
          <a:p>
            <a:endParaRPr lang="pl-PL" sz="2300" dirty="0"/>
          </a:p>
          <a:p>
            <a:endParaRPr lang="pl-PL" sz="2300" dirty="0"/>
          </a:p>
          <a:p>
            <a:endParaRPr lang="pl-PL" sz="2300" dirty="0"/>
          </a:p>
          <a:p>
            <a:r>
              <a:rPr lang="pl-PL" sz="2300" dirty="0"/>
              <a:t>Wybrano 14 z 16 cech. </a:t>
            </a:r>
          </a:p>
          <a:p>
            <a:r>
              <a:rPr lang="pl-PL" sz="2300" dirty="0"/>
              <a:t>Jedyne nie wybrane cechy: </a:t>
            </a:r>
            <a:r>
              <a:rPr lang="pl-PL" sz="2300" dirty="0" err="1"/>
              <a:t>gender_Other</a:t>
            </a:r>
            <a:r>
              <a:rPr lang="pl-PL" sz="2300" dirty="0"/>
              <a:t>, </a:t>
            </a:r>
            <a:r>
              <a:rPr lang="pl-PL" sz="2300" dirty="0" err="1"/>
              <a:t>work_type_Never_worked</a:t>
            </a:r>
            <a:endParaRPr lang="pl-PL" sz="2300" dirty="0"/>
          </a:p>
          <a:p>
            <a:endParaRPr lang="pl-PL" sz="2300" dirty="0"/>
          </a:p>
          <a:p>
            <a:endParaRPr lang="pl-PL" sz="2300" dirty="0"/>
          </a:p>
          <a:p>
            <a:endParaRPr lang="pl-PL" sz="2300" dirty="0"/>
          </a:p>
          <a:p>
            <a:pPr marL="0" indent="0">
              <a:buNone/>
            </a:pPr>
            <a:endParaRPr lang="pl-PL" sz="2300" dirty="0"/>
          </a:p>
          <a:p>
            <a:endParaRPr lang="pl-PL" sz="2300" dirty="0"/>
          </a:p>
        </p:txBody>
      </p:sp>
      <p:pic>
        <p:nvPicPr>
          <p:cNvPr id="5" name="Obraz 4">
            <a:extLst>
              <a:ext uri="{FF2B5EF4-FFF2-40B4-BE49-F238E27FC236}">
                <a16:creationId xmlns:a16="http://schemas.microsoft.com/office/drawing/2014/main" id="{D2E421F1-2DE9-78C1-C17C-06B7CF13616B}"/>
              </a:ext>
            </a:extLst>
          </p:cNvPr>
          <p:cNvPicPr>
            <a:picLocks noChangeAspect="1"/>
          </p:cNvPicPr>
          <p:nvPr/>
        </p:nvPicPr>
        <p:blipFill>
          <a:blip r:embed="rId2"/>
          <a:stretch>
            <a:fillRect/>
          </a:stretch>
        </p:blipFill>
        <p:spPr>
          <a:xfrm>
            <a:off x="1696401" y="2171700"/>
            <a:ext cx="8799198" cy="644227"/>
          </a:xfrm>
          <a:prstGeom prst="rect">
            <a:avLst/>
          </a:prstGeom>
        </p:spPr>
      </p:pic>
      <p:pic>
        <p:nvPicPr>
          <p:cNvPr id="6" name="Obraz 5">
            <a:extLst>
              <a:ext uri="{FF2B5EF4-FFF2-40B4-BE49-F238E27FC236}">
                <a16:creationId xmlns:a16="http://schemas.microsoft.com/office/drawing/2014/main" id="{14116AE4-B143-34E5-28C3-9A14B7707F77}"/>
              </a:ext>
            </a:extLst>
          </p:cNvPr>
          <p:cNvPicPr>
            <a:picLocks noChangeAspect="1"/>
          </p:cNvPicPr>
          <p:nvPr/>
        </p:nvPicPr>
        <p:blipFill>
          <a:blip r:embed="rId3"/>
          <a:stretch>
            <a:fillRect/>
          </a:stretch>
        </p:blipFill>
        <p:spPr>
          <a:xfrm>
            <a:off x="1696400" y="2815927"/>
            <a:ext cx="8799199" cy="1024806"/>
          </a:xfrm>
          <a:prstGeom prst="rect">
            <a:avLst/>
          </a:prstGeom>
        </p:spPr>
      </p:pic>
    </p:spTree>
    <p:extLst>
      <p:ext uri="{BB962C8B-B14F-4D97-AF65-F5344CB8AC3E}">
        <p14:creationId xmlns:p14="http://schemas.microsoft.com/office/powerpoint/2010/main" val="42439734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E961E59-6B54-28AA-CC42-E58DD0A59A85}"/>
              </a:ext>
            </a:extLst>
          </p:cNvPr>
          <p:cNvSpPr>
            <a:spLocks noGrp="1"/>
          </p:cNvSpPr>
          <p:nvPr>
            <p:ph type="title"/>
          </p:nvPr>
        </p:nvSpPr>
        <p:spPr>
          <a:xfrm>
            <a:off x="1371600" y="431450"/>
            <a:ext cx="9601200" cy="1485900"/>
          </a:xfrm>
        </p:spPr>
        <p:txBody>
          <a:bodyPr/>
          <a:lstStyle/>
          <a:p>
            <a:r>
              <a:rPr lang="pl-PL" dirty="0"/>
              <a:t>Parametry modelu</a:t>
            </a:r>
          </a:p>
        </p:txBody>
      </p:sp>
      <p:pic>
        <p:nvPicPr>
          <p:cNvPr id="10" name="Obraz 9">
            <a:extLst>
              <a:ext uri="{FF2B5EF4-FFF2-40B4-BE49-F238E27FC236}">
                <a16:creationId xmlns:a16="http://schemas.microsoft.com/office/drawing/2014/main" id="{C272F8CB-17F3-244B-3A42-4AD21BC92F01}"/>
              </a:ext>
            </a:extLst>
          </p:cNvPr>
          <p:cNvPicPr>
            <a:picLocks noChangeAspect="1"/>
          </p:cNvPicPr>
          <p:nvPr/>
        </p:nvPicPr>
        <p:blipFill>
          <a:blip r:embed="rId2"/>
          <a:stretch>
            <a:fillRect/>
          </a:stretch>
        </p:blipFill>
        <p:spPr>
          <a:xfrm>
            <a:off x="1371600" y="1398423"/>
            <a:ext cx="9884979" cy="1213011"/>
          </a:xfrm>
          <a:prstGeom prst="rect">
            <a:avLst/>
          </a:prstGeom>
        </p:spPr>
      </p:pic>
      <p:sp>
        <p:nvSpPr>
          <p:cNvPr id="15" name="Symbol zastępczy zawartości 14">
            <a:extLst>
              <a:ext uri="{FF2B5EF4-FFF2-40B4-BE49-F238E27FC236}">
                <a16:creationId xmlns:a16="http://schemas.microsoft.com/office/drawing/2014/main" id="{559A73EF-85F0-C047-F744-9C3A817BFD97}"/>
              </a:ext>
            </a:extLst>
          </p:cNvPr>
          <p:cNvSpPr>
            <a:spLocks noGrp="1"/>
          </p:cNvSpPr>
          <p:nvPr>
            <p:ph idx="1"/>
          </p:nvPr>
        </p:nvSpPr>
        <p:spPr>
          <a:xfrm>
            <a:off x="1371600" y="2758578"/>
            <a:ext cx="10526110" cy="3978553"/>
          </a:xfrm>
        </p:spPr>
        <p:txBody>
          <a:bodyPr>
            <a:normAutofit lnSpcReduction="10000"/>
          </a:bodyPr>
          <a:lstStyle/>
          <a:p>
            <a:r>
              <a:rPr lang="pl-PL" dirty="0" err="1"/>
              <a:t>Penalty</a:t>
            </a:r>
            <a:r>
              <a:rPr lang="pl-PL" dirty="0"/>
              <a:t> – kara / </a:t>
            </a:r>
            <a:r>
              <a:rPr lang="pl-PL" dirty="0" err="1"/>
              <a:t>regularyzacja</a:t>
            </a:r>
            <a:r>
              <a:rPr lang="pl-PL" dirty="0"/>
              <a:t>. Karze model za tworzenie zbyt skomplikowanych równań opartych na pojedynczych, specyficznych cechach.</a:t>
            </a:r>
          </a:p>
          <a:p>
            <a:pPr lvl="1"/>
            <a:r>
              <a:rPr lang="pl-PL" dirty="0"/>
              <a:t>L1 -  zeruje nieistotne wagi</a:t>
            </a:r>
          </a:p>
          <a:p>
            <a:pPr lvl="1"/>
            <a:r>
              <a:rPr lang="pl-PL" dirty="0"/>
              <a:t>L2 – używa wszystkich cech, nie zeruje ich, lecz zmusza do przyjmowania mniejszych wartości</a:t>
            </a:r>
          </a:p>
          <a:p>
            <a:r>
              <a:rPr lang="pl-PL" dirty="0"/>
              <a:t>C – odwrotność siły </a:t>
            </a:r>
            <a:r>
              <a:rPr lang="pl-PL" dirty="0" err="1"/>
              <a:t>regularyzacji</a:t>
            </a:r>
            <a:endParaRPr lang="pl-PL" dirty="0"/>
          </a:p>
          <a:p>
            <a:pPr lvl="1"/>
            <a:r>
              <a:rPr lang="pl-PL" dirty="0"/>
              <a:t>Niskie (np. 0.01, 0.001) – model jest zmuszony do znajdowania najprostszych reguł</a:t>
            </a:r>
          </a:p>
          <a:p>
            <a:pPr lvl="1"/>
            <a:r>
              <a:rPr lang="pl-PL" dirty="0"/>
              <a:t>Wysokie (np. 10, 100) – model ma pełną swobodę, co może skończyć się </a:t>
            </a:r>
            <a:r>
              <a:rPr lang="pl-PL" dirty="0" err="1"/>
              <a:t>overfittingiem</a:t>
            </a:r>
            <a:endParaRPr lang="pl-PL" dirty="0"/>
          </a:p>
          <a:p>
            <a:r>
              <a:rPr lang="pl-PL" dirty="0" err="1"/>
              <a:t>Class_weight</a:t>
            </a:r>
            <a:r>
              <a:rPr lang="pl-PL" dirty="0"/>
              <a:t> – waga klas</a:t>
            </a:r>
          </a:p>
          <a:p>
            <a:pPr lvl="1"/>
            <a:r>
              <a:rPr lang="pl-PL" dirty="0" err="1"/>
              <a:t>Balanced</a:t>
            </a:r>
            <a:r>
              <a:rPr lang="pl-PL" dirty="0"/>
              <a:t> – rzadsze klasy otrzymują większe wagi niż te częstsze, więc u nas waga klasy (1) – chorzy  jest większa około 19 razy od wagi klasy (0) – zdrowi.</a:t>
            </a:r>
          </a:p>
        </p:txBody>
      </p:sp>
    </p:spTree>
    <p:extLst>
      <p:ext uri="{BB962C8B-B14F-4D97-AF65-F5344CB8AC3E}">
        <p14:creationId xmlns:p14="http://schemas.microsoft.com/office/powerpoint/2010/main" val="112940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F1E9293-0F99-C4B2-3796-C3F86BD37FD1}"/>
              </a:ext>
            </a:extLst>
          </p:cNvPr>
          <p:cNvSpPr>
            <a:spLocks noGrp="1"/>
          </p:cNvSpPr>
          <p:nvPr>
            <p:ph type="title"/>
          </p:nvPr>
        </p:nvSpPr>
        <p:spPr/>
        <p:txBody>
          <a:bodyPr/>
          <a:lstStyle/>
          <a:p>
            <a:r>
              <a:rPr lang="pl-PL" dirty="0"/>
              <a:t>Wyniki niezoptymalizowanego modelu</a:t>
            </a:r>
          </a:p>
        </p:txBody>
      </p:sp>
      <p:sp>
        <p:nvSpPr>
          <p:cNvPr id="4" name="Symbol zastępczy zawartości 6">
            <a:extLst>
              <a:ext uri="{FF2B5EF4-FFF2-40B4-BE49-F238E27FC236}">
                <a16:creationId xmlns:a16="http://schemas.microsoft.com/office/drawing/2014/main" id="{BD4E965D-D189-8D4A-3902-2804D9D4EA27}"/>
              </a:ext>
            </a:extLst>
          </p:cNvPr>
          <p:cNvSpPr txBox="1">
            <a:spLocks/>
          </p:cNvSpPr>
          <p:nvPr/>
        </p:nvSpPr>
        <p:spPr>
          <a:xfrm>
            <a:off x="1295400" y="3683875"/>
            <a:ext cx="9601200" cy="35814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pl-PL" dirty="0"/>
              <a:t>Zysk biznesowy - aby uzyskać wynik -22.50, model musiał wskazać bardzo dużo fałszywych alarmów. Przewidywał, że niemal każdy pacjent ma udar. Wynika to z tego, że </a:t>
            </a:r>
            <a:r>
              <a:rPr lang="pl-PL" dirty="0" err="1"/>
              <a:t>class_weight</a:t>
            </a:r>
            <a:r>
              <a:rPr lang="pl-PL" dirty="0"/>
              <a:t> = </a:t>
            </a:r>
            <a:r>
              <a:rPr lang="pl-PL" dirty="0" err="1"/>
              <a:t>balanced</a:t>
            </a:r>
            <a:r>
              <a:rPr lang="pl-PL" dirty="0"/>
              <a:t>, przez co model nie chciał przeoczyć żadnej chorej osoby. </a:t>
            </a:r>
          </a:p>
          <a:p>
            <a:r>
              <a:rPr lang="pl-PL" dirty="0"/>
              <a:t>ROC AUC i PR AUC – Jest lepsze niż w zoptymalizowanym drzewie decyzyjnym, model o wiele lepiej wydziela osoby zdrowe od chorych </a:t>
            </a:r>
          </a:p>
          <a:p>
            <a:endParaRPr lang="pl-PL" dirty="0"/>
          </a:p>
          <a:p>
            <a:endParaRPr lang="pl-PL" dirty="0"/>
          </a:p>
        </p:txBody>
      </p:sp>
      <p:pic>
        <p:nvPicPr>
          <p:cNvPr id="5" name="Obraz 4">
            <a:extLst>
              <a:ext uri="{FF2B5EF4-FFF2-40B4-BE49-F238E27FC236}">
                <a16:creationId xmlns:a16="http://schemas.microsoft.com/office/drawing/2014/main" id="{0175EC5A-4778-C7C0-32E4-F1653416DFD1}"/>
              </a:ext>
            </a:extLst>
          </p:cNvPr>
          <p:cNvPicPr>
            <a:picLocks noChangeAspect="1"/>
          </p:cNvPicPr>
          <p:nvPr/>
        </p:nvPicPr>
        <p:blipFill>
          <a:blip r:embed="rId2"/>
          <a:stretch>
            <a:fillRect/>
          </a:stretch>
        </p:blipFill>
        <p:spPr>
          <a:xfrm>
            <a:off x="1371600" y="1684282"/>
            <a:ext cx="7646276" cy="1633955"/>
          </a:xfrm>
          <a:prstGeom prst="rect">
            <a:avLst/>
          </a:prstGeom>
        </p:spPr>
      </p:pic>
    </p:spTree>
    <p:extLst>
      <p:ext uri="{BB962C8B-B14F-4D97-AF65-F5344CB8AC3E}">
        <p14:creationId xmlns:p14="http://schemas.microsoft.com/office/powerpoint/2010/main" val="12777444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C19D70F-3FE7-3A1A-2942-B760DE98B3C7}"/>
              </a:ext>
            </a:extLst>
          </p:cNvPr>
          <p:cNvSpPr>
            <a:spLocks noGrp="1"/>
          </p:cNvSpPr>
          <p:nvPr>
            <p:ph type="title"/>
          </p:nvPr>
        </p:nvSpPr>
        <p:spPr>
          <a:xfrm>
            <a:off x="1371600" y="349469"/>
            <a:ext cx="9601200" cy="1485900"/>
          </a:xfrm>
        </p:spPr>
        <p:txBody>
          <a:bodyPr/>
          <a:lstStyle/>
          <a:p>
            <a:r>
              <a:rPr lang="pl-PL" dirty="0"/>
              <a:t>Optymalizacja </a:t>
            </a:r>
            <a:r>
              <a:rPr lang="pl-PL" dirty="0" err="1"/>
              <a:t>hiperparametrów</a:t>
            </a:r>
            <a:endParaRPr lang="pl-PL" dirty="0"/>
          </a:p>
        </p:txBody>
      </p:sp>
      <p:pic>
        <p:nvPicPr>
          <p:cNvPr id="4" name="Obraz 3">
            <a:extLst>
              <a:ext uri="{FF2B5EF4-FFF2-40B4-BE49-F238E27FC236}">
                <a16:creationId xmlns:a16="http://schemas.microsoft.com/office/drawing/2014/main" id="{B0A395A5-9F4C-E651-CC9A-141ABDA19D87}"/>
              </a:ext>
            </a:extLst>
          </p:cNvPr>
          <p:cNvPicPr>
            <a:picLocks noChangeAspect="1"/>
          </p:cNvPicPr>
          <p:nvPr/>
        </p:nvPicPr>
        <p:blipFill>
          <a:blip r:embed="rId2"/>
          <a:stretch>
            <a:fillRect/>
          </a:stretch>
        </p:blipFill>
        <p:spPr>
          <a:xfrm>
            <a:off x="1371600" y="1342671"/>
            <a:ext cx="9355247" cy="5165860"/>
          </a:xfrm>
          <a:prstGeom prst="rect">
            <a:avLst/>
          </a:prstGeom>
        </p:spPr>
      </p:pic>
    </p:spTree>
    <p:extLst>
      <p:ext uri="{BB962C8B-B14F-4D97-AF65-F5344CB8AC3E}">
        <p14:creationId xmlns:p14="http://schemas.microsoft.com/office/powerpoint/2010/main" val="15232087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D2A82DDC-368E-4B2E-97BA-A763297E8483}"/>
              </a:ext>
            </a:extLst>
          </p:cNvPr>
          <p:cNvSpPr>
            <a:spLocks noGrp="1"/>
          </p:cNvSpPr>
          <p:nvPr>
            <p:ph idx="1"/>
          </p:nvPr>
        </p:nvSpPr>
        <p:spPr>
          <a:xfrm>
            <a:off x="1371599" y="1785445"/>
            <a:ext cx="9601200" cy="4825124"/>
          </a:xfrm>
        </p:spPr>
        <p:txBody>
          <a:bodyPr>
            <a:normAutofit lnSpcReduction="10000"/>
          </a:bodyPr>
          <a:lstStyle/>
          <a:p>
            <a:r>
              <a:rPr lang="pl-PL" dirty="0"/>
              <a:t>Biorąc pod uwagę powyższe </a:t>
            </a:r>
            <a:r>
              <a:rPr lang="pl-PL" dirty="0" err="1"/>
              <a:t>hiperparametry</a:t>
            </a:r>
            <a:r>
              <a:rPr lang="pl-PL" dirty="0"/>
              <a:t>, wyniki nowego modelu prezentują się następująco:</a:t>
            </a:r>
          </a:p>
          <a:p>
            <a:endParaRPr lang="pl-PL" dirty="0"/>
          </a:p>
          <a:p>
            <a:endParaRPr lang="pl-PL" dirty="0"/>
          </a:p>
          <a:p>
            <a:endParaRPr lang="pl-PL" dirty="0"/>
          </a:p>
          <a:p>
            <a:endParaRPr lang="pl-PL" dirty="0"/>
          </a:p>
          <a:p>
            <a:r>
              <a:rPr lang="pl-PL" dirty="0"/>
              <a:t>Widać, że zysk biznesowy zdecydowanie się podniósł, kosztem utarty około 1% skuteczności w ROC AUC i PR AUC. </a:t>
            </a:r>
          </a:p>
          <a:p>
            <a:r>
              <a:rPr lang="pl-PL" dirty="0"/>
              <a:t>F2-Score opadł z 0,40 na 0,32 co oznacza, że model wyłapuje mniej chorych przypadków</a:t>
            </a:r>
          </a:p>
          <a:p>
            <a:r>
              <a:rPr lang="pl-PL" dirty="0"/>
              <a:t>Model poprzednio interpretował większość objawów jako zwał, natomiast teraz lepiej (pod względem biznesowym) dokonuje selekcji i zdecydowanie mniej wskazuje fałszywych alarmów.</a:t>
            </a:r>
          </a:p>
          <a:p>
            <a:endParaRPr lang="pl-PL" dirty="0"/>
          </a:p>
        </p:txBody>
      </p:sp>
      <p:pic>
        <p:nvPicPr>
          <p:cNvPr id="4" name="Obraz 3">
            <a:extLst>
              <a:ext uri="{FF2B5EF4-FFF2-40B4-BE49-F238E27FC236}">
                <a16:creationId xmlns:a16="http://schemas.microsoft.com/office/drawing/2014/main" id="{8FC73526-A185-1843-C09D-2AD2CAC67281}"/>
              </a:ext>
            </a:extLst>
          </p:cNvPr>
          <p:cNvPicPr>
            <a:picLocks noChangeAspect="1"/>
          </p:cNvPicPr>
          <p:nvPr/>
        </p:nvPicPr>
        <p:blipFill>
          <a:blip r:embed="rId2"/>
          <a:stretch>
            <a:fillRect/>
          </a:stretch>
        </p:blipFill>
        <p:spPr>
          <a:xfrm>
            <a:off x="1371599" y="609554"/>
            <a:ext cx="6679324" cy="1014928"/>
          </a:xfrm>
          <a:prstGeom prst="rect">
            <a:avLst/>
          </a:prstGeom>
        </p:spPr>
      </p:pic>
      <p:pic>
        <p:nvPicPr>
          <p:cNvPr id="5" name="Obraz 4">
            <a:extLst>
              <a:ext uri="{FF2B5EF4-FFF2-40B4-BE49-F238E27FC236}">
                <a16:creationId xmlns:a16="http://schemas.microsoft.com/office/drawing/2014/main" id="{DFDAE3E3-5ED0-4098-5271-D13C7036E07D}"/>
              </a:ext>
            </a:extLst>
          </p:cNvPr>
          <p:cNvPicPr>
            <a:picLocks noChangeAspect="1"/>
          </p:cNvPicPr>
          <p:nvPr/>
        </p:nvPicPr>
        <p:blipFill>
          <a:blip r:embed="rId3"/>
          <a:stretch>
            <a:fillRect/>
          </a:stretch>
        </p:blipFill>
        <p:spPr>
          <a:xfrm>
            <a:off x="1371600" y="2625592"/>
            <a:ext cx="6679323" cy="1372272"/>
          </a:xfrm>
          <a:prstGeom prst="rect">
            <a:avLst/>
          </a:prstGeom>
        </p:spPr>
      </p:pic>
    </p:spTree>
    <p:extLst>
      <p:ext uri="{BB962C8B-B14F-4D97-AF65-F5344CB8AC3E}">
        <p14:creationId xmlns:p14="http://schemas.microsoft.com/office/powerpoint/2010/main" val="2003797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7A59748-FE6C-A3AC-87C5-3246BD8DADD9}"/>
              </a:ext>
            </a:extLst>
          </p:cNvPr>
          <p:cNvSpPr>
            <a:spLocks noGrp="1"/>
          </p:cNvSpPr>
          <p:nvPr>
            <p:ph type="title"/>
          </p:nvPr>
        </p:nvSpPr>
        <p:spPr/>
        <p:txBody>
          <a:bodyPr/>
          <a:lstStyle/>
          <a:p>
            <a:r>
              <a:rPr lang="pl-PL" dirty="0"/>
              <a:t>Model 3 - SVM</a:t>
            </a:r>
          </a:p>
        </p:txBody>
      </p:sp>
      <p:sp>
        <p:nvSpPr>
          <p:cNvPr id="3" name="Symbol zastępczy zawartości 2">
            <a:extLst>
              <a:ext uri="{FF2B5EF4-FFF2-40B4-BE49-F238E27FC236}">
                <a16:creationId xmlns:a16="http://schemas.microsoft.com/office/drawing/2014/main" id="{66E392F7-087E-514D-BBC2-BDBCCB0ED112}"/>
              </a:ext>
            </a:extLst>
          </p:cNvPr>
          <p:cNvSpPr>
            <a:spLocks noGrp="1"/>
          </p:cNvSpPr>
          <p:nvPr>
            <p:ph idx="1"/>
          </p:nvPr>
        </p:nvSpPr>
        <p:spPr>
          <a:xfrm>
            <a:off x="1371600" y="3276600"/>
            <a:ext cx="9601200" cy="3581400"/>
          </a:xfrm>
        </p:spPr>
        <p:txBody>
          <a:bodyPr/>
          <a:lstStyle/>
          <a:p>
            <a:r>
              <a:rPr lang="pl-PL" dirty="0"/>
              <a:t>Powyższe wyniki zostały obliczone na modelu SVM bez zoptymalizowanych </a:t>
            </a:r>
            <a:r>
              <a:rPr lang="pl-PL" dirty="0" err="1"/>
              <a:t>hiperparametrów</a:t>
            </a:r>
            <a:endParaRPr lang="pl-PL" dirty="0"/>
          </a:p>
          <a:p>
            <a:r>
              <a:rPr lang="pl-PL" dirty="0"/>
              <a:t>Zysk Biznesowy i F2-Score - domyślny model nie wskazał ani jednej chorej osoby</a:t>
            </a:r>
          </a:p>
          <a:p>
            <a:r>
              <a:rPr lang="pl-PL" dirty="0"/>
              <a:t>ROC AUC – pokazuje, że mimo, że model nie wskazał ani jednej chorej osoby, to ułożył pacjentów na swoim wykresie w kolejności, która jest nieco lepsza niż rzut monetą</a:t>
            </a:r>
          </a:p>
          <a:p>
            <a:r>
              <a:rPr lang="pl-PL" dirty="0"/>
              <a:t>PR AUC – wynik potwierdza, że model ma duży problem z precyzyjnym wskazaniem chorych. Nawet ci pacjenci, którym model przypisał najwyższe prawdopodobieństwo zawału (choć wciąż poniżej 50%), to w przeważającej większości osoby zdrowe.</a:t>
            </a:r>
          </a:p>
        </p:txBody>
      </p:sp>
      <p:pic>
        <p:nvPicPr>
          <p:cNvPr id="4" name="Obraz 3">
            <a:extLst>
              <a:ext uri="{FF2B5EF4-FFF2-40B4-BE49-F238E27FC236}">
                <a16:creationId xmlns:a16="http://schemas.microsoft.com/office/drawing/2014/main" id="{77E48FA5-8C17-3598-0005-07B77F381724}"/>
              </a:ext>
            </a:extLst>
          </p:cNvPr>
          <p:cNvPicPr>
            <a:picLocks noChangeAspect="1"/>
          </p:cNvPicPr>
          <p:nvPr/>
        </p:nvPicPr>
        <p:blipFill>
          <a:blip r:embed="rId2"/>
          <a:stretch>
            <a:fillRect/>
          </a:stretch>
        </p:blipFill>
        <p:spPr>
          <a:xfrm>
            <a:off x="1371600" y="1467507"/>
            <a:ext cx="7493000" cy="1295400"/>
          </a:xfrm>
          <a:prstGeom prst="rect">
            <a:avLst/>
          </a:prstGeom>
        </p:spPr>
      </p:pic>
    </p:spTree>
    <p:extLst>
      <p:ext uri="{BB962C8B-B14F-4D97-AF65-F5344CB8AC3E}">
        <p14:creationId xmlns:p14="http://schemas.microsoft.com/office/powerpoint/2010/main" val="40150737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az 4">
            <a:extLst>
              <a:ext uri="{FF2B5EF4-FFF2-40B4-BE49-F238E27FC236}">
                <a16:creationId xmlns:a16="http://schemas.microsoft.com/office/drawing/2014/main" id="{BF7EFDB2-BC34-A91A-EE6E-4FA54083E80C}"/>
              </a:ext>
            </a:extLst>
          </p:cNvPr>
          <p:cNvPicPr>
            <a:picLocks noChangeAspect="1"/>
          </p:cNvPicPr>
          <p:nvPr/>
        </p:nvPicPr>
        <p:blipFill>
          <a:blip r:embed="rId2"/>
          <a:stretch>
            <a:fillRect/>
          </a:stretch>
        </p:blipFill>
        <p:spPr>
          <a:xfrm>
            <a:off x="9061801" y="2655176"/>
            <a:ext cx="2351071" cy="4062249"/>
          </a:xfrm>
          <a:prstGeom prst="rect">
            <a:avLst/>
          </a:prstGeom>
        </p:spPr>
      </p:pic>
      <p:sp>
        <p:nvSpPr>
          <p:cNvPr id="2" name="Tytuł 1">
            <a:extLst>
              <a:ext uri="{FF2B5EF4-FFF2-40B4-BE49-F238E27FC236}">
                <a16:creationId xmlns:a16="http://schemas.microsoft.com/office/drawing/2014/main" id="{D96351E9-A1DD-DA7F-D0D5-4C15E7D4C1E0}"/>
              </a:ext>
            </a:extLst>
          </p:cNvPr>
          <p:cNvSpPr>
            <a:spLocks noGrp="1"/>
          </p:cNvSpPr>
          <p:nvPr>
            <p:ph type="title"/>
          </p:nvPr>
        </p:nvSpPr>
        <p:spPr/>
        <p:txBody>
          <a:bodyPr/>
          <a:lstStyle/>
          <a:p>
            <a:r>
              <a:rPr lang="pl-PL" dirty="0"/>
              <a:t>Optymalizacja </a:t>
            </a:r>
            <a:r>
              <a:rPr lang="pl-PL" dirty="0" err="1"/>
              <a:t>hiperparametrów</a:t>
            </a:r>
            <a:endParaRPr lang="pl-PL" dirty="0"/>
          </a:p>
        </p:txBody>
      </p:sp>
      <p:sp>
        <p:nvSpPr>
          <p:cNvPr id="3" name="Symbol zastępczy zawartości 2">
            <a:extLst>
              <a:ext uri="{FF2B5EF4-FFF2-40B4-BE49-F238E27FC236}">
                <a16:creationId xmlns:a16="http://schemas.microsoft.com/office/drawing/2014/main" id="{09814F64-7EED-B7CD-5452-66388EEA0857}"/>
              </a:ext>
            </a:extLst>
          </p:cNvPr>
          <p:cNvSpPr>
            <a:spLocks noGrp="1"/>
          </p:cNvSpPr>
          <p:nvPr>
            <p:ph idx="1"/>
          </p:nvPr>
        </p:nvSpPr>
        <p:spPr>
          <a:xfrm>
            <a:off x="1371600" y="3053255"/>
            <a:ext cx="7845972" cy="3581400"/>
          </a:xfrm>
        </p:spPr>
        <p:txBody>
          <a:bodyPr>
            <a:normAutofit lnSpcReduction="10000"/>
          </a:bodyPr>
          <a:lstStyle/>
          <a:p>
            <a:r>
              <a:rPr lang="pl-PL" dirty="0" err="1"/>
              <a:t>Kernel</a:t>
            </a:r>
            <a:r>
              <a:rPr lang="pl-PL" dirty="0"/>
              <a:t> – jakie narzędzie zostanie wykorzystane do oddzielenia pacjentów: </a:t>
            </a:r>
            <a:r>
              <a:rPr lang="pl-PL" dirty="0" err="1"/>
              <a:t>linear</a:t>
            </a:r>
            <a:r>
              <a:rPr lang="pl-PL" dirty="0"/>
              <a:t>, </a:t>
            </a:r>
            <a:r>
              <a:rPr lang="pl-PL" dirty="0" err="1"/>
              <a:t>rbf</a:t>
            </a:r>
            <a:r>
              <a:rPr lang="pl-PL" dirty="0"/>
              <a:t>, </a:t>
            </a:r>
            <a:r>
              <a:rPr lang="pl-PL" dirty="0" err="1"/>
              <a:t>poly</a:t>
            </a:r>
            <a:endParaRPr lang="pl-PL" dirty="0"/>
          </a:p>
          <a:p>
            <a:r>
              <a:rPr lang="pl-PL" dirty="0"/>
              <a:t>C – parametr </a:t>
            </a:r>
            <a:r>
              <a:rPr lang="pl-PL" dirty="0" err="1"/>
              <a:t>regularyzacji</a:t>
            </a:r>
            <a:r>
              <a:rPr lang="pl-PL" dirty="0"/>
              <a:t> </a:t>
            </a:r>
          </a:p>
          <a:p>
            <a:pPr lvl="1"/>
            <a:r>
              <a:rPr lang="pl-PL" dirty="0"/>
              <a:t>Niskie (0.1, 1) – tworzy prostą granicę oddzielającą klasy</a:t>
            </a:r>
          </a:p>
          <a:p>
            <a:pPr lvl="1"/>
            <a:r>
              <a:rPr lang="pl-PL" dirty="0"/>
              <a:t>Wysokie (10, 100) – model próbuje idealnie dopasować granicę</a:t>
            </a:r>
          </a:p>
          <a:p>
            <a:r>
              <a:rPr lang="pl-PL" dirty="0"/>
              <a:t>Gamma – zasięg wpływu pojedynczego przykładu(dotyczy </a:t>
            </a:r>
            <a:r>
              <a:rPr lang="pl-PL" dirty="0" err="1"/>
              <a:t>rbf</a:t>
            </a:r>
            <a:r>
              <a:rPr lang="pl-PL" dirty="0"/>
              <a:t> i </a:t>
            </a:r>
            <a:r>
              <a:rPr lang="pl-PL" dirty="0" err="1"/>
              <a:t>poly</a:t>
            </a:r>
            <a:r>
              <a:rPr lang="pl-PL" dirty="0"/>
              <a:t>)</a:t>
            </a:r>
          </a:p>
          <a:p>
            <a:r>
              <a:rPr lang="pl-PL" dirty="0" err="1"/>
              <a:t>Degree</a:t>
            </a:r>
            <a:r>
              <a:rPr lang="pl-PL" dirty="0"/>
              <a:t> – stopień wielomianu</a:t>
            </a:r>
          </a:p>
          <a:p>
            <a:r>
              <a:rPr lang="pl-PL" dirty="0" err="1"/>
              <a:t>Class_weight</a:t>
            </a:r>
            <a:r>
              <a:rPr lang="pl-PL" dirty="0"/>
              <a:t> – przy „</a:t>
            </a:r>
            <a:r>
              <a:rPr lang="pl-PL" dirty="0" err="1"/>
              <a:t>balanced</a:t>
            </a:r>
            <a:r>
              <a:rPr lang="pl-PL" dirty="0"/>
              <a:t>” model nadaje klasie mniejszościowej taką wagę, by liczyła się tak jak większościowa.</a:t>
            </a:r>
          </a:p>
        </p:txBody>
      </p:sp>
      <p:pic>
        <p:nvPicPr>
          <p:cNvPr id="4" name="Obraz 3">
            <a:extLst>
              <a:ext uri="{FF2B5EF4-FFF2-40B4-BE49-F238E27FC236}">
                <a16:creationId xmlns:a16="http://schemas.microsoft.com/office/drawing/2014/main" id="{AA95B36C-27FE-661A-4FD9-253EDF139F59}"/>
              </a:ext>
            </a:extLst>
          </p:cNvPr>
          <p:cNvPicPr>
            <a:picLocks noChangeAspect="1"/>
          </p:cNvPicPr>
          <p:nvPr/>
        </p:nvPicPr>
        <p:blipFill>
          <a:blip r:embed="rId3"/>
          <a:stretch>
            <a:fillRect/>
          </a:stretch>
        </p:blipFill>
        <p:spPr>
          <a:xfrm>
            <a:off x="1371600" y="1664344"/>
            <a:ext cx="10041272" cy="1253465"/>
          </a:xfrm>
          <a:prstGeom prst="rect">
            <a:avLst/>
          </a:prstGeom>
        </p:spPr>
      </p:pic>
    </p:spTree>
    <p:extLst>
      <p:ext uri="{BB962C8B-B14F-4D97-AF65-F5344CB8AC3E}">
        <p14:creationId xmlns:p14="http://schemas.microsoft.com/office/powerpoint/2010/main" val="8092169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8CEA71B-F145-6D15-B033-7439F0DBA50D}"/>
              </a:ext>
            </a:extLst>
          </p:cNvPr>
          <p:cNvSpPr>
            <a:spLocks noGrp="1"/>
          </p:cNvSpPr>
          <p:nvPr>
            <p:ph type="title"/>
          </p:nvPr>
        </p:nvSpPr>
        <p:spPr/>
        <p:txBody>
          <a:bodyPr/>
          <a:lstStyle/>
          <a:p>
            <a:r>
              <a:rPr lang="pl-PL" dirty="0"/>
              <a:t>Szukanie progu decyzyjnego</a:t>
            </a:r>
          </a:p>
        </p:txBody>
      </p:sp>
      <p:sp>
        <p:nvSpPr>
          <p:cNvPr id="3" name="Symbol zastępczy zawartości 2">
            <a:extLst>
              <a:ext uri="{FF2B5EF4-FFF2-40B4-BE49-F238E27FC236}">
                <a16:creationId xmlns:a16="http://schemas.microsoft.com/office/drawing/2014/main" id="{67803864-7161-8015-E000-8CAC2F499AC7}"/>
              </a:ext>
            </a:extLst>
          </p:cNvPr>
          <p:cNvSpPr>
            <a:spLocks noGrp="1"/>
          </p:cNvSpPr>
          <p:nvPr>
            <p:ph idx="1"/>
          </p:nvPr>
        </p:nvSpPr>
        <p:spPr>
          <a:xfrm>
            <a:off x="1371600" y="4598276"/>
            <a:ext cx="9601200" cy="3581400"/>
          </a:xfrm>
        </p:spPr>
        <p:txBody>
          <a:bodyPr>
            <a:normAutofit/>
          </a:bodyPr>
          <a:lstStyle/>
          <a:p>
            <a:r>
              <a:rPr lang="pl-PL" sz="2200" dirty="0"/>
              <a:t>Optymalny próg decyzyjny (CV) dla maksymalizacji zysku biznesowego wynosi 0.29 (Zysk sumaryczny CV: 10.25)</a:t>
            </a:r>
          </a:p>
        </p:txBody>
      </p:sp>
      <p:pic>
        <p:nvPicPr>
          <p:cNvPr id="7" name="Obraz 6">
            <a:extLst>
              <a:ext uri="{FF2B5EF4-FFF2-40B4-BE49-F238E27FC236}">
                <a16:creationId xmlns:a16="http://schemas.microsoft.com/office/drawing/2014/main" id="{11923379-6C40-3259-4000-234D56C27AF3}"/>
              </a:ext>
            </a:extLst>
          </p:cNvPr>
          <p:cNvPicPr>
            <a:picLocks noChangeAspect="1"/>
          </p:cNvPicPr>
          <p:nvPr/>
        </p:nvPicPr>
        <p:blipFill>
          <a:blip r:embed="rId2"/>
          <a:stretch>
            <a:fillRect/>
          </a:stretch>
        </p:blipFill>
        <p:spPr>
          <a:xfrm>
            <a:off x="1371600" y="1618840"/>
            <a:ext cx="9601200" cy="2368854"/>
          </a:xfrm>
          <a:prstGeom prst="rect">
            <a:avLst/>
          </a:prstGeom>
        </p:spPr>
      </p:pic>
    </p:spTree>
    <p:extLst>
      <p:ext uri="{BB962C8B-B14F-4D97-AF65-F5344CB8AC3E}">
        <p14:creationId xmlns:p14="http://schemas.microsoft.com/office/powerpoint/2010/main" val="3193332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8828E8DA-276B-9691-1B62-4B690D0F52CF}"/>
              </a:ext>
            </a:extLst>
          </p:cNvPr>
          <p:cNvSpPr>
            <a:spLocks noGrp="1"/>
          </p:cNvSpPr>
          <p:nvPr>
            <p:ph idx="1"/>
          </p:nvPr>
        </p:nvSpPr>
        <p:spPr>
          <a:xfrm>
            <a:off x="1295400" y="714703"/>
            <a:ext cx="10192407" cy="5906813"/>
          </a:xfrm>
        </p:spPr>
        <p:txBody>
          <a:bodyPr>
            <a:normAutofit/>
          </a:bodyPr>
          <a:lstStyle/>
          <a:p>
            <a:r>
              <a:rPr lang="pl-PL" dirty="0"/>
              <a:t>Dla najlepszych znalezionych parametrów badane metryki prezentują się następująco:</a:t>
            </a:r>
          </a:p>
          <a:p>
            <a:endParaRPr lang="pl-PL" dirty="0"/>
          </a:p>
          <a:p>
            <a:endParaRPr lang="pl-PL" dirty="0"/>
          </a:p>
          <a:p>
            <a:endParaRPr lang="pl-PL" dirty="0"/>
          </a:p>
          <a:p>
            <a:endParaRPr lang="pl-PL" dirty="0"/>
          </a:p>
          <a:p>
            <a:endParaRPr lang="pl-PL" dirty="0"/>
          </a:p>
          <a:p>
            <a:r>
              <a:rPr lang="pl-PL" dirty="0"/>
              <a:t>ROC AUC i PR AUC wskazują na to, że model potrafi w większości ułożyć pacjentów w odpowiedniej kolejności od najzdrowszego do najbardziej chorego.</a:t>
            </a:r>
          </a:p>
          <a:p>
            <a:r>
              <a:rPr lang="pl-PL" dirty="0"/>
              <a:t>F2-Score na poziomie 11% oznacza, że model niemal nikogo nie wykrywa. </a:t>
            </a:r>
          </a:p>
          <a:p>
            <a:r>
              <a:rPr lang="pl-PL" dirty="0"/>
              <a:t>Zysk biznesowy – 0.25 mówi, że model zaryzykował, wskazał bardzo mało osób i prawdopodobnie </a:t>
            </a:r>
            <a:r>
              <a:rPr lang="pl-PL" b="1" dirty="0"/>
              <a:t>5 punkt za trafienie (1 TP) oraz stracił 4,75 punktu za 19 fałszywych alarmów (3 FP)</a:t>
            </a:r>
            <a:r>
              <a:rPr lang="pl-PL" dirty="0"/>
              <a:t>.Przeoczył przy tym 90% pacjentów. Działa ledwie zauważalnie lepiej niż model, który milczy całkowicie (zysk 0.00).</a:t>
            </a:r>
          </a:p>
          <a:p>
            <a:endParaRPr lang="pl-PL" dirty="0"/>
          </a:p>
          <a:p>
            <a:endParaRPr lang="pl-PL" dirty="0"/>
          </a:p>
          <a:p>
            <a:endParaRPr lang="pl-PL" dirty="0"/>
          </a:p>
        </p:txBody>
      </p:sp>
      <p:pic>
        <p:nvPicPr>
          <p:cNvPr id="5" name="Obraz 4">
            <a:extLst>
              <a:ext uri="{FF2B5EF4-FFF2-40B4-BE49-F238E27FC236}">
                <a16:creationId xmlns:a16="http://schemas.microsoft.com/office/drawing/2014/main" id="{0D0BA990-676A-B77F-9639-4CBB12D9C913}"/>
              </a:ext>
            </a:extLst>
          </p:cNvPr>
          <p:cNvPicPr>
            <a:picLocks noChangeAspect="1"/>
          </p:cNvPicPr>
          <p:nvPr/>
        </p:nvPicPr>
        <p:blipFill>
          <a:blip r:embed="rId2"/>
          <a:stretch>
            <a:fillRect/>
          </a:stretch>
        </p:blipFill>
        <p:spPr>
          <a:xfrm>
            <a:off x="1894489" y="1268112"/>
            <a:ext cx="8994228" cy="1568761"/>
          </a:xfrm>
          <a:prstGeom prst="rect">
            <a:avLst/>
          </a:prstGeom>
        </p:spPr>
      </p:pic>
    </p:spTree>
    <p:extLst>
      <p:ext uri="{BB962C8B-B14F-4D97-AF65-F5344CB8AC3E}">
        <p14:creationId xmlns:p14="http://schemas.microsoft.com/office/powerpoint/2010/main" val="27325810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az 3">
            <a:extLst>
              <a:ext uri="{FF2B5EF4-FFF2-40B4-BE49-F238E27FC236}">
                <a16:creationId xmlns:a16="http://schemas.microsoft.com/office/drawing/2014/main" id="{52A537FA-4907-CE57-FCB1-D181CCAF4F40}"/>
              </a:ext>
            </a:extLst>
          </p:cNvPr>
          <p:cNvPicPr>
            <a:picLocks noChangeAspect="1"/>
          </p:cNvPicPr>
          <p:nvPr/>
        </p:nvPicPr>
        <p:blipFill>
          <a:blip r:embed="rId2"/>
          <a:stretch>
            <a:fillRect/>
          </a:stretch>
        </p:blipFill>
        <p:spPr>
          <a:xfrm>
            <a:off x="1120442" y="501576"/>
            <a:ext cx="10735893" cy="5854848"/>
          </a:xfrm>
          <a:prstGeom prst="rect">
            <a:avLst/>
          </a:prstGeom>
        </p:spPr>
      </p:pic>
    </p:spTree>
    <p:extLst>
      <p:ext uri="{BB962C8B-B14F-4D97-AF65-F5344CB8AC3E}">
        <p14:creationId xmlns:p14="http://schemas.microsoft.com/office/powerpoint/2010/main" val="33651844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8E20652-AFEB-7D21-4D39-1F7F3A679AD3}"/>
              </a:ext>
            </a:extLst>
          </p:cNvPr>
          <p:cNvSpPr>
            <a:spLocks noGrp="1"/>
          </p:cNvSpPr>
          <p:nvPr>
            <p:ph type="title"/>
          </p:nvPr>
        </p:nvSpPr>
        <p:spPr/>
        <p:txBody>
          <a:bodyPr/>
          <a:lstStyle/>
          <a:p>
            <a:r>
              <a:rPr lang="pl-PL" dirty="0"/>
              <a:t>Porównanie wszystkich modeli</a:t>
            </a:r>
          </a:p>
        </p:txBody>
      </p:sp>
      <p:sp>
        <p:nvSpPr>
          <p:cNvPr id="3" name="Symbol zastępczy zawartości 2">
            <a:extLst>
              <a:ext uri="{FF2B5EF4-FFF2-40B4-BE49-F238E27FC236}">
                <a16:creationId xmlns:a16="http://schemas.microsoft.com/office/drawing/2014/main" id="{16511C67-564E-B3A9-B6C2-A72A1DBEB973}"/>
              </a:ext>
            </a:extLst>
          </p:cNvPr>
          <p:cNvSpPr>
            <a:spLocks noGrp="1"/>
          </p:cNvSpPr>
          <p:nvPr>
            <p:ph idx="1"/>
          </p:nvPr>
        </p:nvSpPr>
        <p:spPr>
          <a:xfrm>
            <a:off x="1371600" y="2286000"/>
            <a:ext cx="3820510" cy="3581400"/>
          </a:xfrm>
        </p:spPr>
        <p:txBody>
          <a:bodyPr>
            <a:normAutofit/>
          </a:bodyPr>
          <a:lstStyle/>
          <a:p>
            <a:r>
              <a:rPr lang="pl-PL" sz="2200" dirty="0"/>
              <a:t>Największą różnicę w zysku biznesowym widać w przypadku regresji logistycznej, która nie dość, że zwiększyła swój wynik, to okazała się najopłacalniejszym modelem</a:t>
            </a:r>
          </a:p>
        </p:txBody>
      </p:sp>
      <p:pic>
        <p:nvPicPr>
          <p:cNvPr id="4" name="Obraz 3">
            <a:extLst>
              <a:ext uri="{FF2B5EF4-FFF2-40B4-BE49-F238E27FC236}">
                <a16:creationId xmlns:a16="http://schemas.microsoft.com/office/drawing/2014/main" id="{9013A8F5-8908-D9BE-EB7A-2B7BA4A7F02C}"/>
              </a:ext>
            </a:extLst>
          </p:cNvPr>
          <p:cNvPicPr>
            <a:picLocks noChangeAspect="1"/>
          </p:cNvPicPr>
          <p:nvPr/>
        </p:nvPicPr>
        <p:blipFill>
          <a:blip r:embed="rId2"/>
          <a:stretch>
            <a:fillRect/>
          </a:stretch>
        </p:blipFill>
        <p:spPr>
          <a:xfrm>
            <a:off x="5707116" y="2200274"/>
            <a:ext cx="6273997" cy="3752851"/>
          </a:xfrm>
          <a:prstGeom prst="rect">
            <a:avLst/>
          </a:prstGeom>
        </p:spPr>
      </p:pic>
    </p:spTree>
    <p:extLst>
      <p:ext uri="{BB962C8B-B14F-4D97-AF65-F5344CB8AC3E}">
        <p14:creationId xmlns:p14="http://schemas.microsoft.com/office/powerpoint/2010/main" val="16599056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5F3A50C6-7D6E-9D5D-F99A-E445951F1D14}"/>
              </a:ext>
            </a:extLst>
          </p:cNvPr>
          <p:cNvSpPr>
            <a:spLocks noGrp="1"/>
          </p:cNvSpPr>
          <p:nvPr>
            <p:ph idx="1"/>
          </p:nvPr>
        </p:nvSpPr>
        <p:spPr>
          <a:xfrm>
            <a:off x="1371600" y="331076"/>
            <a:ext cx="9601200" cy="3581400"/>
          </a:xfrm>
        </p:spPr>
        <p:txBody>
          <a:bodyPr/>
          <a:lstStyle/>
          <a:p>
            <a:r>
              <a:rPr lang="pl-PL" dirty="0"/>
              <a:t>W przypadku F2-Score największą różnicę widać dla Drzewa Decyzyjnego. Optymalizacja (zwłaszcza dodanie kary za przeoczenie zawału – </a:t>
            </a:r>
            <a:r>
              <a:rPr lang="pl-PL" dirty="0" err="1"/>
              <a:t>class_weight</a:t>
            </a:r>
            <a:r>
              <a:rPr lang="pl-PL" dirty="0"/>
              <a:t>) brutalnie wymusiła na drzewie skupienie się na chorych. Model zaczął aktywnie szukać zawałów i je wyłapywać.</a:t>
            </a:r>
          </a:p>
          <a:p>
            <a:r>
              <a:rPr lang="pl-PL" dirty="0"/>
              <a:t>Mimo, że F2-Score był bardzo wysoki dla Regresji Logistycznej, to zysk był ujemny, więc model uznawał większość osób za chore dlatego optymalizacja doprowadziła do jego obniżenia</a:t>
            </a:r>
          </a:p>
          <a:p>
            <a:endParaRPr lang="pl-PL" dirty="0"/>
          </a:p>
        </p:txBody>
      </p:sp>
      <p:pic>
        <p:nvPicPr>
          <p:cNvPr id="4" name="Obraz 3">
            <a:extLst>
              <a:ext uri="{FF2B5EF4-FFF2-40B4-BE49-F238E27FC236}">
                <a16:creationId xmlns:a16="http://schemas.microsoft.com/office/drawing/2014/main" id="{8EE94F74-98B5-7A84-495D-4C16FBCE7320}"/>
              </a:ext>
            </a:extLst>
          </p:cNvPr>
          <p:cNvPicPr>
            <a:picLocks noChangeAspect="1"/>
          </p:cNvPicPr>
          <p:nvPr/>
        </p:nvPicPr>
        <p:blipFill>
          <a:blip r:embed="rId2"/>
          <a:stretch>
            <a:fillRect/>
          </a:stretch>
        </p:blipFill>
        <p:spPr>
          <a:xfrm>
            <a:off x="2622550" y="2858814"/>
            <a:ext cx="6260754" cy="3668110"/>
          </a:xfrm>
          <a:prstGeom prst="rect">
            <a:avLst/>
          </a:prstGeom>
        </p:spPr>
      </p:pic>
    </p:spTree>
    <p:extLst>
      <p:ext uri="{BB962C8B-B14F-4D97-AF65-F5344CB8AC3E}">
        <p14:creationId xmlns:p14="http://schemas.microsoft.com/office/powerpoint/2010/main" val="24529272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66349E7D-7F6F-453D-29EB-24F349ABFE37}"/>
              </a:ext>
            </a:extLst>
          </p:cNvPr>
          <p:cNvSpPr>
            <a:spLocks noGrp="1"/>
          </p:cNvSpPr>
          <p:nvPr>
            <p:ph idx="1"/>
          </p:nvPr>
        </p:nvSpPr>
        <p:spPr>
          <a:xfrm>
            <a:off x="1295400" y="383628"/>
            <a:ext cx="4716518" cy="5764924"/>
          </a:xfrm>
        </p:spPr>
        <p:txBody>
          <a:bodyPr>
            <a:normAutofit/>
          </a:bodyPr>
          <a:lstStyle/>
          <a:p>
            <a:r>
              <a:rPr lang="pl-PL" dirty="0"/>
              <a:t>Dla Drzewa Decyzyjnego i SVM widać duży wzrost w wynikach. Po zastosowaniu </a:t>
            </a:r>
            <a:r>
              <a:rPr lang="pl-PL" dirty="0" err="1"/>
              <a:t>GridSearchCV</a:t>
            </a:r>
            <a:r>
              <a:rPr lang="pl-PL" dirty="0"/>
              <a:t>, oba algorytmy dokonały skoku i stały się porównywalne do Regresji Logistycznej.</a:t>
            </a:r>
          </a:p>
          <a:p>
            <a:r>
              <a:rPr lang="pl-PL" dirty="0"/>
              <a:t>Regresja Logistyczna zachowała się zupełnie inaczej. Jej wyniki są niemal równe przed i po optymalizacji. Oznacza to, że ten algorytm już na domyślnych ustawieniach świetnie zrozumiał problem (wysokie ROC i PR). Optymalizacja w jej przypadku nie polegała na nauce od nowa, lecz na zmodyfikowaniu modelu, by przestał generować fałszywe alarmy. Drobny spadek na wykresie PR AUC po optymalizacji to właśnie koszt tej modyfikacji.</a:t>
            </a:r>
          </a:p>
          <a:p>
            <a:endParaRPr lang="pl-PL" dirty="0"/>
          </a:p>
        </p:txBody>
      </p:sp>
      <p:pic>
        <p:nvPicPr>
          <p:cNvPr id="5" name="Obraz 4">
            <a:extLst>
              <a:ext uri="{FF2B5EF4-FFF2-40B4-BE49-F238E27FC236}">
                <a16:creationId xmlns:a16="http://schemas.microsoft.com/office/drawing/2014/main" id="{5F8D0E8E-4A53-A678-9775-C414F4565262}"/>
              </a:ext>
            </a:extLst>
          </p:cNvPr>
          <p:cNvPicPr>
            <a:picLocks noChangeAspect="1"/>
          </p:cNvPicPr>
          <p:nvPr/>
        </p:nvPicPr>
        <p:blipFill>
          <a:blip r:embed="rId2"/>
          <a:stretch>
            <a:fillRect/>
          </a:stretch>
        </p:blipFill>
        <p:spPr>
          <a:xfrm>
            <a:off x="6180083" y="328448"/>
            <a:ext cx="5788572" cy="3234559"/>
          </a:xfrm>
          <a:prstGeom prst="rect">
            <a:avLst/>
          </a:prstGeom>
        </p:spPr>
      </p:pic>
      <p:pic>
        <p:nvPicPr>
          <p:cNvPr id="7" name="Obraz 6">
            <a:extLst>
              <a:ext uri="{FF2B5EF4-FFF2-40B4-BE49-F238E27FC236}">
                <a16:creationId xmlns:a16="http://schemas.microsoft.com/office/drawing/2014/main" id="{C8E15277-FFAA-DE04-7C34-63811FDE01EF}"/>
              </a:ext>
            </a:extLst>
          </p:cNvPr>
          <p:cNvPicPr>
            <a:picLocks noChangeAspect="1"/>
          </p:cNvPicPr>
          <p:nvPr/>
        </p:nvPicPr>
        <p:blipFill>
          <a:blip r:embed="rId3"/>
          <a:stretch>
            <a:fillRect/>
          </a:stretch>
        </p:blipFill>
        <p:spPr>
          <a:xfrm>
            <a:off x="6180083" y="3342290"/>
            <a:ext cx="5788572" cy="3318642"/>
          </a:xfrm>
          <a:prstGeom prst="rect">
            <a:avLst/>
          </a:prstGeom>
        </p:spPr>
      </p:pic>
    </p:spTree>
    <p:extLst>
      <p:ext uri="{BB962C8B-B14F-4D97-AF65-F5344CB8AC3E}">
        <p14:creationId xmlns:p14="http://schemas.microsoft.com/office/powerpoint/2010/main" val="5998728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E8561CF-45D5-9A39-7362-1DE61FFD5D7A}"/>
              </a:ext>
            </a:extLst>
          </p:cNvPr>
          <p:cNvSpPr>
            <a:spLocks noGrp="1"/>
          </p:cNvSpPr>
          <p:nvPr>
            <p:ph type="title"/>
          </p:nvPr>
        </p:nvSpPr>
        <p:spPr/>
        <p:txBody>
          <a:bodyPr/>
          <a:lstStyle/>
          <a:p>
            <a:r>
              <a:rPr lang="pl-PL" dirty="0"/>
              <a:t>Podsumowanie</a:t>
            </a:r>
          </a:p>
        </p:txBody>
      </p:sp>
      <p:sp>
        <p:nvSpPr>
          <p:cNvPr id="3" name="Symbol zastępczy zawartości 2">
            <a:extLst>
              <a:ext uri="{FF2B5EF4-FFF2-40B4-BE49-F238E27FC236}">
                <a16:creationId xmlns:a16="http://schemas.microsoft.com/office/drawing/2014/main" id="{12255C6C-7F73-B6DF-6152-3DC196DF6522}"/>
              </a:ext>
            </a:extLst>
          </p:cNvPr>
          <p:cNvSpPr>
            <a:spLocks noGrp="1"/>
          </p:cNvSpPr>
          <p:nvPr>
            <p:ph idx="1"/>
          </p:nvPr>
        </p:nvSpPr>
        <p:spPr>
          <a:xfrm>
            <a:off x="1371600" y="1981201"/>
            <a:ext cx="9601200" cy="4325814"/>
          </a:xfrm>
        </p:spPr>
        <p:txBody>
          <a:bodyPr>
            <a:normAutofit/>
          </a:bodyPr>
          <a:lstStyle/>
          <a:p>
            <a:r>
              <a:rPr lang="pl-PL" dirty="0"/>
              <a:t>Dla zbioru „</a:t>
            </a:r>
            <a:r>
              <a:rPr lang="pl-PL" dirty="0" err="1"/>
              <a:t>Stroke</a:t>
            </a:r>
            <a:r>
              <a:rPr lang="pl-PL" dirty="0"/>
              <a:t> </a:t>
            </a:r>
            <a:r>
              <a:rPr lang="pl-PL" dirty="0" err="1"/>
              <a:t>Prediction</a:t>
            </a:r>
            <a:r>
              <a:rPr lang="pl-PL" dirty="0"/>
              <a:t> </a:t>
            </a:r>
            <a:r>
              <a:rPr lang="pl-PL" dirty="0" err="1"/>
              <a:t>Dataset</a:t>
            </a:r>
            <a:r>
              <a:rPr lang="pl-PL" dirty="0"/>
              <a:t>” najlepszym modelem zdecydowanie jest Regresja Logistyczna. Miała ona najwyższy Zysk Biznesowy, więc była najbardziej opłacalna. </a:t>
            </a:r>
          </a:p>
          <a:p>
            <a:r>
              <a:rPr lang="pl-PL" dirty="0"/>
              <a:t>W przypadku ROC AUC i PR AUC również model miał minimalną przewagę nad pozostałymi</a:t>
            </a:r>
          </a:p>
          <a:p>
            <a:r>
              <a:rPr lang="pl-PL" dirty="0"/>
              <a:t>Tylko w metryce F2-Score Regresja Logistyczna przegrała z Drzewem Decyzyjnym. Wynika to z faktu, że F2-Score kładzie podwójny nacisk na wyłapywanie zawałów (Czułość), łagodniej traktując fałszywe alarmy. Regresja Logistyczna osiągnęła niższe F2, ponieważ celowo poświęciła część Czułości na rzecz redukcji fałszywych alarmów, aby zmaksymalizować Zysk Biznesowy.</a:t>
            </a:r>
          </a:p>
          <a:p>
            <a:r>
              <a:rPr lang="pl-PL" dirty="0"/>
              <a:t>Gdybyśmy skupiali się wyłącznie na ocaleniu jak największej liczby chorych, nie patrząc na koszty badań i zaufanie do naszej aplikacji, wtedy Drzewo Decyzyjne byłoby lepszym rozwiązaniem</a:t>
            </a:r>
          </a:p>
          <a:p>
            <a:endParaRPr lang="pl-PL" dirty="0"/>
          </a:p>
        </p:txBody>
      </p:sp>
    </p:spTree>
    <p:extLst>
      <p:ext uri="{BB962C8B-B14F-4D97-AF65-F5344CB8AC3E}">
        <p14:creationId xmlns:p14="http://schemas.microsoft.com/office/powerpoint/2010/main" val="40237815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B34EFEF-37A9-DB75-FC29-22E6183FD802}"/>
              </a:ext>
            </a:extLst>
          </p:cNvPr>
          <p:cNvSpPr>
            <a:spLocks noGrp="1"/>
          </p:cNvSpPr>
          <p:nvPr>
            <p:ph type="title"/>
          </p:nvPr>
        </p:nvSpPr>
        <p:spPr/>
        <p:txBody>
          <a:bodyPr/>
          <a:lstStyle/>
          <a:p>
            <a:r>
              <a:rPr lang="pl-PL" dirty="0"/>
              <a:t>Podział prac</a:t>
            </a:r>
          </a:p>
        </p:txBody>
      </p:sp>
      <p:sp>
        <p:nvSpPr>
          <p:cNvPr id="3" name="Symbol zastępczy zawartości 2">
            <a:extLst>
              <a:ext uri="{FF2B5EF4-FFF2-40B4-BE49-F238E27FC236}">
                <a16:creationId xmlns:a16="http://schemas.microsoft.com/office/drawing/2014/main" id="{B6BADEC5-2F02-12F7-EF39-2DF2BCAB6CC7}"/>
              </a:ext>
            </a:extLst>
          </p:cNvPr>
          <p:cNvSpPr>
            <a:spLocks noGrp="1"/>
          </p:cNvSpPr>
          <p:nvPr>
            <p:ph idx="1"/>
          </p:nvPr>
        </p:nvSpPr>
        <p:spPr/>
        <p:txBody>
          <a:bodyPr>
            <a:normAutofit/>
          </a:bodyPr>
          <a:lstStyle/>
          <a:p>
            <a:r>
              <a:rPr lang="pl-PL" sz="2400" dirty="0"/>
              <a:t>Czesław Komenda – Regresja Logistyczna, prezentacja, interpretacja wyników</a:t>
            </a:r>
          </a:p>
          <a:p>
            <a:endParaRPr lang="pl-PL" sz="2400" dirty="0"/>
          </a:p>
          <a:p>
            <a:r>
              <a:rPr lang="pl-PL" sz="2400" dirty="0"/>
              <a:t>Michał </a:t>
            </a:r>
            <a:r>
              <a:rPr lang="pl-PL" sz="2400" dirty="0" err="1"/>
              <a:t>Iwanejko</a:t>
            </a:r>
            <a:r>
              <a:rPr lang="pl-PL" sz="2400" dirty="0"/>
              <a:t> – Drzewo decyzyjne, analiza i </a:t>
            </a:r>
            <a:r>
              <a:rPr lang="pl-PL" sz="2400" dirty="0" err="1"/>
              <a:t>preprocesing</a:t>
            </a:r>
            <a:r>
              <a:rPr lang="pl-PL" sz="2400" dirty="0"/>
              <a:t> zbioru danych</a:t>
            </a:r>
          </a:p>
          <a:p>
            <a:endParaRPr lang="pl-PL" sz="2400" dirty="0"/>
          </a:p>
          <a:p>
            <a:r>
              <a:rPr lang="pl-PL" sz="2400" dirty="0"/>
              <a:t>Ignacy Rusiecki – SVM, wybór i uzasadnienie miar klasyfikacji</a:t>
            </a:r>
          </a:p>
        </p:txBody>
      </p:sp>
    </p:spTree>
    <p:extLst>
      <p:ext uri="{BB962C8B-B14F-4D97-AF65-F5344CB8AC3E}">
        <p14:creationId xmlns:p14="http://schemas.microsoft.com/office/powerpoint/2010/main" val="916436233"/>
      </p:ext>
    </p:extLst>
  </p:cSld>
  <p:clrMapOvr>
    <a:masterClrMapping/>
  </p:clrMapOvr>
</p:sld>
</file>

<file path=ppt/theme/theme1.xml><?xml version="1.0" encoding="utf-8"?>
<a:theme xmlns:a="http://schemas.openxmlformats.org/drawingml/2006/main" name="Przycinanie">
  <a:themeElements>
    <a:clrScheme name="Przycinanie">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Przycinanie">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rzycinani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docProps/app.xml><?xml version="1.0" encoding="utf-8"?>
<Properties xmlns="http://schemas.openxmlformats.org/officeDocument/2006/extended-properties" xmlns:vt="http://schemas.openxmlformats.org/officeDocument/2006/docPropsVTypes">
  <Template>Crop</Template>
  <TotalTime>3232</TotalTime>
  <Words>1864</Words>
  <Application>Microsoft Macintosh PowerPoint</Application>
  <PresentationFormat>Panoramiczny</PresentationFormat>
  <Paragraphs>137</Paragraphs>
  <Slides>31</Slides>
  <Notes>0</Notes>
  <HiddenSlides>0</HiddenSlides>
  <MMClips>0</MMClips>
  <ScaleCrop>false</ScaleCrop>
  <HeadingPairs>
    <vt:vector size="6" baseType="variant">
      <vt:variant>
        <vt:lpstr>Używane czcionki</vt:lpstr>
      </vt:variant>
      <vt:variant>
        <vt:i4>1</vt:i4>
      </vt:variant>
      <vt:variant>
        <vt:lpstr>Motyw</vt:lpstr>
      </vt:variant>
      <vt:variant>
        <vt:i4>1</vt:i4>
      </vt:variant>
      <vt:variant>
        <vt:lpstr>Tytuły slajdów</vt:lpstr>
      </vt:variant>
      <vt:variant>
        <vt:i4>31</vt:i4>
      </vt:variant>
    </vt:vector>
  </HeadingPairs>
  <TitlesOfParts>
    <vt:vector size="33" baseType="lpstr">
      <vt:lpstr>Franklin Gothic Book</vt:lpstr>
      <vt:lpstr>Przycinanie</vt:lpstr>
      <vt:lpstr>Klasyfikacja Zawałów Serca</vt:lpstr>
      <vt:lpstr>1. Analiza danych</vt:lpstr>
      <vt:lpstr>Prezentacja programu PowerPoint</vt:lpstr>
      <vt:lpstr>Prezentacja programu PowerPoint</vt:lpstr>
      <vt:lpstr>Outliery</vt:lpstr>
      <vt:lpstr>Macierz korelacji</vt:lpstr>
      <vt:lpstr>Prezentacja programu PowerPoint</vt:lpstr>
      <vt:lpstr>2. Przygotowanie danych</vt:lpstr>
      <vt:lpstr>Brakujące dane</vt:lpstr>
      <vt:lpstr>3. Badane metryki</vt:lpstr>
      <vt:lpstr>Prezentacja programu PowerPoint</vt:lpstr>
      <vt:lpstr>Model 1 – Drzewo decyzyjne </vt:lpstr>
      <vt:lpstr>Badania hiperparametrów</vt:lpstr>
      <vt:lpstr>Prezentacja programu PowerPoint</vt:lpstr>
      <vt:lpstr>Prezentacja programu PowerPoint</vt:lpstr>
      <vt:lpstr>Prezentacja programu PowerPoint</vt:lpstr>
      <vt:lpstr>Model 2 – Regresja logistyczna</vt:lpstr>
      <vt:lpstr>Parametry modelu</vt:lpstr>
      <vt:lpstr>Wyniki niezoptymalizowanego modelu</vt:lpstr>
      <vt:lpstr>Optymalizacja hiperparametrów</vt:lpstr>
      <vt:lpstr>Prezentacja programu PowerPoint</vt:lpstr>
      <vt:lpstr>Model 3 - SVM</vt:lpstr>
      <vt:lpstr>Optymalizacja hiperparametrów</vt:lpstr>
      <vt:lpstr>Szukanie progu decyzyjnego</vt:lpstr>
      <vt:lpstr>Prezentacja programu PowerPoint</vt:lpstr>
      <vt:lpstr>Prezentacja programu PowerPoint</vt:lpstr>
      <vt:lpstr>Porównanie wszystkich modeli</vt:lpstr>
      <vt:lpstr>Prezentacja programu PowerPoint</vt:lpstr>
      <vt:lpstr>Prezentacja programu PowerPoint</vt:lpstr>
      <vt:lpstr>Podsumowanie</vt:lpstr>
      <vt:lpstr>Podział prac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Bor Catahbi</dc:creator>
  <cp:lastModifiedBy>Bor Catahbi</cp:lastModifiedBy>
  <cp:revision>57</cp:revision>
  <dcterms:created xsi:type="dcterms:W3CDTF">2026-05-11T16:09:48Z</dcterms:created>
  <dcterms:modified xsi:type="dcterms:W3CDTF">2026-05-14T09:48:57Z</dcterms:modified>
</cp:coreProperties>
</file>