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59" r:id="rId10"/>
    <p:sldId id="275" r:id="rId11"/>
    <p:sldId id="265" r:id="rId12"/>
    <p:sldId id="266" r:id="rId13"/>
    <p:sldId id="267" r:id="rId14"/>
    <p:sldId id="268" r:id="rId15"/>
    <p:sldId id="272" r:id="rId16"/>
    <p:sldId id="269" r:id="rId17"/>
    <p:sldId id="270" r:id="rId18"/>
    <p:sldId id="271" r:id="rId19"/>
    <p:sldId id="274" r:id="rId20"/>
    <p:sldId id="273" r:id="rId21"/>
    <p:sldId id="276" r:id="rId22"/>
    <p:sldId id="277" r:id="rId23"/>
    <p:sldId id="279" r:id="rId24"/>
    <p:sldId id="281" r:id="rId25"/>
    <p:sldId id="280" r:id="rId26"/>
    <p:sldId id="282" r:id="rId27"/>
    <p:sldId id="283" r:id="rId28"/>
    <p:sldId id="284" r:id="rId29"/>
    <p:sldId id="285" r:id="rId30"/>
    <p:sldId id="286" r:id="rId31"/>
    <p:sldId id="278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98"/>
  </p:normalViewPr>
  <p:slideViewPr>
    <p:cSldViewPr snapToGrid="0">
      <p:cViewPr varScale="1">
        <p:scale>
          <a:sx n="90" d="100"/>
          <a:sy n="90" d="100"/>
        </p:scale>
        <p:origin x="38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232D418-9E88-7943-90B6-0440B62E84A8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FD39C36-64F0-DF44-97FD-40952FE77D55}" type="slidenum">
              <a:rPr lang="pl-PL" smtClean="0"/>
              <a:t>‹#›</a:t>
            </a:fld>
            <a:endParaRPr lang="pl-PL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498819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418-9E88-7943-90B6-0440B62E84A8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9C36-64F0-DF44-97FD-40952FE77D5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7047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232D418-9E88-7943-90B6-0440B62E84A8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D39C36-64F0-DF44-97FD-40952FE77D55}" type="slidenum">
              <a:rPr lang="pl-PL" smtClean="0"/>
              <a:t>‹#›</a:t>
            </a:fld>
            <a:endParaRPr lang="pl-PL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230205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418-9E88-7943-90B6-0440B62E84A8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9C36-64F0-DF44-97FD-40952FE77D5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95559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418-9E88-7943-90B6-0440B62E84A8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9C36-64F0-DF44-97FD-40952FE77D5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580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418-9E88-7943-90B6-0440B62E84A8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9C36-64F0-DF44-97FD-40952FE77D5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07009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418-9E88-7943-90B6-0440B62E84A8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9C36-64F0-DF44-97FD-40952FE77D5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03813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232D418-9E88-7943-90B6-0440B62E84A8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D39C36-64F0-DF44-97FD-40952FE77D55}" type="slidenum">
              <a:rPr lang="pl-PL" smtClean="0"/>
              <a:t>‹#›</a:t>
            </a:fld>
            <a:endParaRPr lang="pl-PL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34787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232D418-9E88-7943-90B6-0440B62E84A8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D39C36-64F0-DF44-97FD-40952FE77D55}" type="slidenum">
              <a:rPr lang="pl-PL" smtClean="0"/>
              <a:t>‹#›</a:t>
            </a:fld>
            <a:endParaRPr lang="pl-PL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93558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418-9E88-7943-90B6-0440B62E84A8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9C36-64F0-DF44-97FD-40952FE77D5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86315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418-9E88-7943-90B6-0440B62E84A8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9C36-64F0-DF44-97FD-40952FE77D5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613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E232D418-9E88-7943-90B6-0440B62E84A8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AFD39C36-64F0-DF44-97FD-40952FE77D55}" type="slidenum">
              <a:rPr lang="pl-PL" smtClean="0"/>
              <a:t>‹#›</a:t>
            </a:fld>
            <a:endParaRPr lang="pl-PL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94824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37E1F3A-690B-65C2-BB58-04807890D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4" y="2138855"/>
            <a:ext cx="8361229" cy="2098226"/>
          </a:xfrm>
        </p:spPr>
        <p:txBody>
          <a:bodyPr/>
          <a:lstStyle/>
          <a:p>
            <a:r>
              <a:rPr lang="pl-PL" dirty="0"/>
              <a:t>Klasyfikacja Zawałów Serca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C095D5AB-1AB0-D6C6-EE5C-7740BDCAF689}"/>
              </a:ext>
            </a:extLst>
          </p:cNvPr>
          <p:cNvSpPr txBox="1"/>
          <p:nvPr/>
        </p:nvSpPr>
        <p:spPr>
          <a:xfrm>
            <a:off x="4198881" y="4424855"/>
            <a:ext cx="37942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200" dirty="0" err="1"/>
              <a:t>Stroke</a:t>
            </a:r>
            <a:r>
              <a:rPr lang="pl-PL" sz="2200" dirty="0"/>
              <a:t> </a:t>
            </a:r>
            <a:r>
              <a:rPr lang="pl-PL" sz="2200" dirty="0" err="1"/>
              <a:t>Prediction</a:t>
            </a:r>
            <a:r>
              <a:rPr lang="pl-PL" sz="2200" dirty="0"/>
              <a:t> </a:t>
            </a:r>
            <a:r>
              <a:rPr lang="pl-PL" sz="2200" dirty="0" err="1"/>
              <a:t>Dataset</a:t>
            </a:r>
            <a:endParaRPr lang="pl-PL" sz="2200" dirty="0"/>
          </a:p>
        </p:txBody>
      </p:sp>
    </p:spTree>
    <p:extLst>
      <p:ext uri="{BB962C8B-B14F-4D97-AF65-F5344CB8AC3E}">
        <p14:creationId xmlns:p14="http://schemas.microsoft.com/office/powerpoint/2010/main" val="2088130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034FDD1-FA24-020A-CE62-205D2D482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1. Analiza danych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C395204-5A72-63AF-A796-2E497E6C3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4518561" cy="3581400"/>
          </a:xfrm>
        </p:spPr>
        <p:txBody>
          <a:bodyPr/>
          <a:lstStyle/>
          <a:p>
            <a:r>
              <a:rPr lang="pl-PL" dirty="0" err="1"/>
              <a:t>gender</a:t>
            </a:r>
            <a:r>
              <a:rPr lang="pl-PL" dirty="0"/>
              <a:t> - "Male", "</a:t>
            </a:r>
            <a:r>
              <a:rPr lang="pl-PL" dirty="0" err="1"/>
              <a:t>Female</a:t>
            </a:r>
            <a:r>
              <a:rPr lang="pl-PL" dirty="0"/>
              <a:t>" </a:t>
            </a:r>
            <a:r>
              <a:rPr lang="pl-PL" dirty="0" err="1"/>
              <a:t>or</a:t>
            </a:r>
            <a:r>
              <a:rPr lang="pl-PL" dirty="0"/>
              <a:t> "</a:t>
            </a:r>
            <a:r>
              <a:rPr lang="pl-PL" dirty="0" err="1"/>
              <a:t>Other</a:t>
            </a:r>
            <a:r>
              <a:rPr lang="pl-PL" dirty="0"/>
              <a:t>”</a:t>
            </a:r>
          </a:p>
          <a:p>
            <a:r>
              <a:rPr lang="pl-PL" dirty="0" err="1"/>
              <a:t>ever_married</a:t>
            </a:r>
            <a:r>
              <a:rPr lang="pl-PL" dirty="0"/>
              <a:t> – ”</a:t>
            </a:r>
            <a:r>
              <a:rPr lang="pl-PL" dirty="0" err="1"/>
              <a:t>Yes</a:t>
            </a:r>
            <a:r>
              <a:rPr lang="pl-PL" dirty="0"/>
              <a:t>” </a:t>
            </a:r>
            <a:r>
              <a:rPr lang="pl-PL" dirty="0" err="1"/>
              <a:t>or</a:t>
            </a:r>
            <a:r>
              <a:rPr lang="pl-PL" dirty="0"/>
              <a:t> „No”</a:t>
            </a:r>
          </a:p>
          <a:p>
            <a:r>
              <a:rPr lang="pl-PL" dirty="0" err="1"/>
              <a:t>work_type</a:t>
            </a:r>
            <a:r>
              <a:rPr lang="pl-PL" dirty="0"/>
              <a:t> - "</a:t>
            </a:r>
            <a:r>
              <a:rPr lang="pl-PL" dirty="0" err="1"/>
              <a:t>children</a:t>
            </a:r>
            <a:r>
              <a:rPr lang="pl-PL" dirty="0"/>
              <a:t>", "</a:t>
            </a:r>
            <a:r>
              <a:rPr lang="pl-PL" dirty="0" err="1"/>
              <a:t>Govt_jov</a:t>
            </a:r>
            <a:r>
              <a:rPr lang="pl-PL" dirty="0"/>
              <a:t>", "</a:t>
            </a:r>
            <a:r>
              <a:rPr lang="pl-PL" dirty="0" err="1"/>
              <a:t>Never_worked</a:t>
            </a:r>
            <a:r>
              <a:rPr lang="pl-PL" dirty="0"/>
              <a:t>", "</a:t>
            </a:r>
            <a:r>
              <a:rPr lang="pl-PL" dirty="0" err="1"/>
              <a:t>Private</a:t>
            </a:r>
            <a:r>
              <a:rPr lang="pl-PL" dirty="0"/>
              <a:t>" </a:t>
            </a:r>
            <a:r>
              <a:rPr lang="pl-PL" dirty="0" err="1"/>
              <a:t>or</a:t>
            </a:r>
            <a:r>
              <a:rPr lang="pl-PL" dirty="0"/>
              <a:t> "</a:t>
            </a:r>
            <a:r>
              <a:rPr lang="pl-PL" dirty="0" err="1"/>
              <a:t>Self-employed</a:t>
            </a:r>
            <a:r>
              <a:rPr lang="pl-PL" dirty="0"/>
              <a:t>”</a:t>
            </a:r>
          </a:p>
          <a:p>
            <a:r>
              <a:rPr lang="pl-PL" dirty="0" err="1"/>
              <a:t>Residence_type</a:t>
            </a:r>
            <a:r>
              <a:rPr lang="pl-PL" dirty="0"/>
              <a:t> - "</a:t>
            </a:r>
            <a:r>
              <a:rPr lang="pl-PL" dirty="0" err="1"/>
              <a:t>Rural</a:t>
            </a:r>
            <a:r>
              <a:rPr lang="pl-PL" dirty="0"/>
              <a:t>" </a:t>
            </a:r>
            <a:r>
              <a:rPr lang="pl-PL" dirty="0" err="1"/>
              <a:t>or</a:t>
            </a:r>
            <a:r>
              <a:rPr lang="pl-PL" dirty="0"/>
              <a:t> "Urban”</a:t>
            </a:r>
          </a:p>
          <a:p>
            <a:r>
              <a:rPr lang="pl-PL" dirty="0" err="1"/>
              <a:t>smoking_status</a:t>
            </a:r>
            <a:r>
              <a:rPr lang="pl-PL" dirty="0"/>
              <a:t> - "</a:t>
            </a:r>
            <a:r>
              <a:rPr lang="pl-PL" dirty="0" err="1"/>
              <a:t>formerly</a:t>
            </a:r>
            <a:r>
              <a:rPr lang="pl-PL" dirty="0"/>
              <a:t> </a:t>
            </a:r>
            <a:r>
              <a:rPr lang="pl-PL" dirty="0" err="1"/>
              <a:t>smoked</a:t>
            </a:r>
            <a:r>
              <a:rPr lang="pl-PL" dirty="0"/>
              <a:t>", "</a:t>
            </a:r>
            <a:r>
              <a:rPr lang="pl-PL" dirty="0" err="1"/>
              <a:t>never</a:t>
            </a:r>
            <a:r>
              <a:rPr lang="pl-PL" dirty="0"/>
              <a:t> </a:t>
            </a:r>
            <a:r>
              <a:rPr lang="pl-PL" dirty="0" err="1"/>
              <a:t>smoked</a:t>
            </a:r>
            <a:r>
              <a:rPr lang="pl-PL" dirty="0"/>
              <a:t>", "</a:t>
            </a:r>
            <a:r>
              <a:rPr lang="pl-PL" dirty="0" err="1"/>
              <a:t>smokes</a:t>
            </a:r>
            <a:r>
              <a:rPr lang="pl-PL" dirty="0"/>
              <a:t>" </a:t>
            </a:r>
            <a:r>
              <a:rPr lang="pl-PL" dirty="0" err="1"/>
              <a:t>or</a:t>
            </a:r>
            <a:r>
              <a:rPr lang="pl-PL" dirty="0"/>
              <a:t> "</a:t>
            </a:r>
            <a:r>
              <a:rPr lang="pl-PL" dirty="0" err="1"/>
              <a:t>Unknown</a:t>
            </a:r>
            <a:r>
              <a:rPr lang="pl-PL" dirty="0"/>
              <a:t>"</a:t>
            </a:r>
            <a:br>
              <a:rPr lang="pl-PL" dirty="0"/>
            </a:br>
            <a:endParaRPr lang="pl-PL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7FCE7AAE-EFF7-6A6A-5D6C-7ED1FBCD1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806" y="1943100"/>
            <a:ext cx="52578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1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68C8A50-E0F6-52A9-B1B4-A56B4FCD8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109" y="278524"/>
            <a:ext cx="9601200" cy="2359573"/>
          </a:xfrm>
        </p:spPr>
        <p:txBody>
          <a:bodyPr>
            <a:normAutofit lnSpcReduction="10000"/>
          </a:bodyPr>
          <a:lstStyle/>
          <a:p>
            <a:r>
              <a:rPr lang="pl-PL" dirty="0"/>
              <a:t>Ze wstępnej analizy danych można zauważyć, że kolumny </a:t>
            </a:r>
            <a:r>
              <a:rPr lang="pl-PL" dirty="0" err="1"/>
              <a:t>hypertension</a:t>
            </a:r>
            <a:r>
              <a:rPr lang="pl-PL" dirty="0"/>
              <a:t> i </a:t>
            </a:r>
            <a:r>
              <a:rPr lang="pl-PL" dirty="0" err="1"/>
              <a:t>heart_disease</a:t>
            </a:r>
            <a:r>
              <a:rPr lang="pl-PL" dirty="0"/>
              <a:t> są binarne (Prawda/Fałsz)</a:t>
            </a:r>
          </a:p>
          <a:p>
            <a:r>
              <a:rPr lang="pl-PL" dirty="0"/>
              <a:t>Dla </a:t>
            </a:r>
            <a:r>
              <a:rPr lang="pl-PL" dirty="0" err="1"/>
              <a:t>heart_disease</a:t>
            </a:r>
            <a:r>
              <a:rPr lang="pl-PL" dirty="0"/>
              <a:t> i </a:t>
            </a:r>
            <a:r>
              <a:rPr lang="pl-PL" dirty="0" err="1"/>
              <a:t>stroke</a:t>
            </a:r>
            <a:r>
              <a:rPr lang="pl-PL" dirty="0"/>
              <a:t> średnia wynosi 0.05, co oznacza, że wartości są mocno niezbalansowane</a:t>
            </a:r>
          </a:p>
          <a:p>
            <a:r>
              <a:rPr lang="pl-PL" dirty="0"/>
              <a:t>Widać, że </a:t>
            </a:r>
            <a:r>
              <a:rPr lang="pl-PL" dirty="0" err="1"/>
              <a:t>bmi</a:t>
            </a:r>
            <a:r>
              <a:rPr lang="pl-PL" dirty="0"/>
              <a:t> oraz </a:t>
            </a:r>
            <a:r>
              <a:rPr lang="pl-PL" dirty="0" err="1"/>
              <a:t>avg_glucose_level</a:t>
            </a:r>
            <a:r>
              <a:rPr lang="pl-PL" dirty="0"/>
              <a:t> mogą zwierać dużo </a:t>
            </a:r>
            <a:r>
              <a:rPr lang="pl-PL" dirty="0" err="1"/>
              <a:t>outlierów</a:t>
            </a:r>
            <a:r>
              <a:rPr lang="pl-PL" dirty="0"/>
              <a:t> (przez różnice w max względem średniej i mediany)</a:t>
            </a:r>
          </a:p>
          <a:p>
            <a:r>
              <a:rPr lang="pl-PL" dirty="0"/>
              <a:t>Nasz zbiór danych również zawiera brakujące wartości w kolumnie </a:t>
            </a:r>
            <a:r>
              <a:rPr lang="pl-PL" dirty="0" err="1"/>
              <a:t>bmi</a:t>
            </a:r>
            <a:endParaRPr lang="pl-PL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867D8258-FC92-3805-C6AC-FA03E9A70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109" y="2722179"/>
            <a:ext cx="9560371" cy="377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153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E0A5A791-E7FE-ECDB-F47B-784B4323E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938" y="368110"/>
            <a:ext cx="9270124" cy="612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093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EE00D14-F274-8B68-A843-C0EFC142D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Outliery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046E125-5FA5-52A4-F3FA-23C73A734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60179"/>
            <a:ext cx="9601200" cy="898635"/>
          </a:xfrm>
        </p:spPr>
        <p:txBody>
          <a:bodyPr/>
          <a:lstStyle/>
          <a:p>
            <a:r>
              <a:rPr lang="pl-PL" dirty="0"/>
              <a:t>Mamy dużo </a:t>
            </a:r>
            <a:r>
              <a:rPr lang="pl-PL" dirty="0" err="1"/>
              <a:t>outlierów</a:t>
            </a:r>
            <a:r>
              <a:rPr lang="pl-PL" dirty="0"/>
              <a:t> w </a:t>
            </a:r>
            <a:r>
              <a:rPr lang="pl-PL" dirty="0" err="1"/>
              <a:t>avg_glucose_level</a:t>
            </a:r>
            <a:r>
              <a:rPr lang="pl-PL" dirty="0"/>
              <a:t> i </a:t>
            </a:r>
            <a:r>
              <a:rPr lang="pl-PL" dirty="0" err="1"/>
              <a:t>bmi</a:t>
            </a:r>
            <a:r>
              <a:rPr lang="pl-PL" dirty="0"/>
              <a:t>, nie powinniśmy ich usuwać ponieważ są to dane wpływające na szansę zawału (np. zaawansowana cukrzyca) 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66F37549-8B46-3498-0CFF-623FBF4D2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213" y="2954938"/>
            <a:ext cx="10476682" cy="346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755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499629A-4563-4067-44C5-F3F0D9177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Macierz korelacji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1E82011-5C22-E528-4DA6-026077082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3526221" cy="3581400"/>
          </a:xfrm>
        </p:spPr>
        <p:txBody>
          <a:bodyPr/>
          <a:lstStyle/>
          <a:p>
            <a:r>
              <a:rPr lang="pl-PL" dirty="0"/>
              <a:t>Widać korelacje pomiędzy wiekiem, a zawałem serca. Ogólnie, im wyższy wiek, tym więcej dolegliwości u danej osoby widać w danych.</a:t>
            </a:r>
          </a:p>
          <a:p>
            <a:r>
              <a:rPr lang="pl-PL" dirty="0"/>
              <a:t>Widać też, że nasza kolumna </a:t>
            </a:r>
            <a:r>
              <a:rPr lang="pl-PL" dirty="0" err="1"/>
              <a:t>bmi</a:t>
            </a:r>
            <a:r>
              <a:rPr lang="pl-PL" dirty="0"/>
              <a:t> z brakującymi wartościami ma silne powiązanie z wiekiem.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4BCBAC30-F363-1527-78FC-8055B2041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911" y="1085193"/>
            <a:ext cx="5807147" cy="5273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005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694E3963-B388-24F4-5068-FF8FA329E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221" y="714228"/>
            <a:ext cx="10217558" cy="542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584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A8C9BD4-B35E-F1BF-9949-593E79839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2. Przygotowanie danych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34FE9E4-E718-8F46-0077-FBFAD0978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23544"/>
            <a:ext cx="9601200" cy="4440621"/>
          </a:xfrm>
        </p:spPr>
        <p:txBody>
          <a:bodyPr/>
          <a:lstStyle/>
          <a:p>
            <a:r>
              <a:rPr lang="pl-PL" dirty="0"/>
              <a:t>Pierwsze co robimy to usuwamy zbędną kolumnę id</a:t>
            </a:r>
          </a:p>
          <a:p>
            <a:endParaRPr lang="pl-PL" dirty="0"/>
          </a:p>
          <a:p>
            <a:r>
              <a:rPr lang="pl-PL" dirty="0"/>
              <a:t>Następnie przekształcamy dane w całkowicie numeryczne (One-hot </a:t>
            </a:r>
            <a:r>
              <a:rPr lang="pl-PL" dirty="0" err="1"/>
              <a:t>encoding</a:t>
            </a:r>
            <a:r>
              <a:rPr lang="pl-PL" dirty="0"/>
              <a:t>)</a:t>
            </a:r>
          </a:p>
          <a:p>
            <a:endParaRPr lang="pl-PL" dirty="0"/>
          </a:p>
          <a:p>
            <a:r>
              <a:rPr lang="pl-PL" dirty="0"/>
              <a:t>Później dzielimy dane na zbiór testowy i treningowy</a:t>
            </a:r>
          </a:p>
          <a:p>
            <a:endParaRPr lang="pl-PL" dirty="0"/>
          </a:p>
          <a:p>
            <a:endParaRPr lang="pl-PL" dirty="0"/>
          </a:p>
          <a:p>
            <a:r>
              <a:rPr lang="pl-PL" dirty="0"/>
              <a:t>Na końcu standaryzujemy dane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E1329207-D990-CCB4-D02D-B4D5B0B42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220" y="2284686"/>
            <a:ext cx="3319517" cy="298756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845602B8-5832-F295-C22D-C8065C50A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220" y="4043854"/>
            <a:ext cx="7772400" cy="778419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7AE920BF-ECAE-BE84-9199-35F08AD43E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220" y="5357647"/>
            <a:ext cx="5727700" cy="965200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74423510-B9B9-834B-2888-AF7E89D7F0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4220" y="3137190"/>
            <a:ext cx="5418959" cy="31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643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C0D2607-B94B-5654-3B33-6AD27F758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Brakujące dane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94F40C5-5AA9-5058-250A-E19828AF0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091560"/>
            <a:ext cx="6458607" cy="2594742"/>
          </a:xfrm>
        </p:spPr>
        <p:txBody>
          <a:bodyPr>
            <a:normAutofit/>
          </a:bodyPr>
          <a:lstStyle/>
          <a:p>
            <a:r>
              <a:rPr lang="pl-PL" dirty="0"/>
              <a:t>Spośród 12 kolumn, jedna (</a:t>
            </a:r>
            <a:r>
              <a:rPr lang="pl-PL" dirty="0" err="1"/>
              <a:t>bmi</a:t>
            </a:r>
            <a:r>
              <a:rPr lang="pl-PL" dirty="0"/>
              <a:t>) zawiera puste wartości</a:t>
            </a:r>
          </a:p>
          <a:p>
            <a:r>
              <a:rPr lang="pl-PL" dirty="0"/>
              <a:t>Zostały one uzupełnione medianą </a:t>
            </a:r>
            <a:r>
              <a:rPr lang="pl-PL" dirty="0" err="1"/>
              <a:t>bmi</a:t>
            </a:r>
            <a:r>
              <a:rPr lang="pl-PL" dirty="0"/>
              <a:t> z osób w tym samym wieku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423F1958-9E78-26AB-F54C-AA5458675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600" y="685800"/>
            <a:ext cx="2489200" cy="546100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2236E5D3-6177-302E-7994-A490B4D04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814818"/>
            <a:ext cx="6591300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485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BF65A-CA2F-3485-5689-F63D27F18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377BDCC-D4D9-6D69-C89A-C4908A7B7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3. Badane metryki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30F6036-CE29-4AF7-1C2A-79B7DA783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096814"/>
            <a:ext cx="9601200" cy="3581400"/>
          </a:xfrm>
        </p:spPr>
        <p:txBody>
          <a:bodyPr>
            <a:normAutofit/>
          </a:bodyPr>
          <a:lstStyle/>
          <a:p>
            <a:r>
              <a:rPr lang="pl-PL" dirty="0"/>
              <a:t>Zysk biznesowy (TP - 0.25*FP) - Autorska funkcja kosztu dostosowana do warunków postawionych w treści zadania, za każdego uratowanego pacjenta - jeden punkt, za każdy fałszywy alarm odejmuje ćwierć punktu. W przypadku dążenia do maksymalizacji tej miary, przez silnie niezbalansowane dane, modele uczą się silnej zachowawczości (przez karę za fałszywe alarmy)</a:t>
            </a:r>
          </a:p>
          <a:p>
            <a:endParaRPr lang="pl-PL" dirty="0"/>
          </a:p>
          <a:p>
            <a:r>
              <a:rPr lang="pl-PL" dirty="0"/>
              <a:t>F2-Score (Nacisk na czułość) - Jest to F-Beta </a:t>
            </a:r>
            <a:r>
              <a:rPr lang="pl-PL" dirty="0" err="1"/>
              <a:t>Score</a:t>
            </a:r>
            <a:r>
              <a:rPr lang="pl-PL" dirty="0"/>
              <a:t> ze współczynnikiem dwa, analogiczna do F1 - tylko czułość jest w niej dwa razy ważniejsza od precyzji - wzór 5*((czułość*precyzja)/(4*precyzja + czułość)). Sprawdza jak model radzi sobie z wykrywaniem zawałów, zwracając mniejszą uwagę na fałszywe alarmy niż F1. 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37320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62A0D36-896F-686D-D7CC-BE5F68E48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29558"/>
            <a:ext cx="9601200" cy="4692870"/>
          </a:xfrm>
        </p:spPr>
        <p:txBody>
          <a:bodyPr>
            <a:normAutofit/>
          </a:bodyPr>
          <a:lstStyle/>
          <a:p>
            <a:r>
              <a:rPr lang="pl-PL" sz="2400" dirty="0"/>
              <a:t>ROC AUC - Jest to pole pod krzywą, wyrysowaną używając posortowanych po prawdopodobieństwach predykcji dla FPR i TPR. Mówi o tym jak model potrafi sortować klasy - nie zakładając jednego progu decyzyjnego. Przy niezbilansowanych danych wyniki mogą wychodzić wysokie z powodu łatwego odrzucania osób oczywiście zdrowych.</a:t>
            </a:r>
          </a:p>
          <a:p>
            <a:endParaRPr lang="pl-PL" sz="2400" dirty="0"/>
          </a:p>
          <a:p>
            <a:r>
              <a:rPr lang="pl-PL" sz="2400" dirty="0"/>
              <a:t>PR AUC (</a:t>
            </a:r>
            <a:r>
              <a:rPr lang="pl-PL" sz="2400" dirty="0" err="1"/>
              <a:t>Average</a:t>
            </a:r>
            <a:r>
              <a:rPr lang="pl-PL" sz="2400" dirty="0"/>
              <a:t> Precision) - To pole pod wykresem krzywej precyzja-czułość. Krzywa ta pokazuje jak przy zmieniającym się progu klasyfikacji wygląda precyzja i czułość dla danej klasy. Jest bardziej odporne na niezbalansowane klasy. Lepiej pokazuje jak model klasyfikuje chorych pacjentów.</a:t>
            </a:r>
          </a:p>
          <a:p>
            <a:endParaRPr lang="pl-PL" sz="2300" dirty="0"/>
          </a:p>
        </p:txBody>
      </p:sp>
    </p:spTree>
    <p:extLst>
      <p:ext uri="{BB962C8B-B14F-4D97-AF65-F5344CB8AC3E}">
        <p14:creationId xmlns:p14="http://schemas.microsoft.com/office/powerpoint/2010/main" val="4136838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14DF01B-AC0B-09EC-F160-3AB1225F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Model 1 – Drzewo decyzyjne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74EFA00-D58A-48CF-F90A-E1F74649F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3130550"/>
            <a:ext cx="10336924" cy="3385864"/>
          </a:xfrm>
        </p:spPr>
        <p:txBody>
          <a:bodyPr>
            <a:noAutofit/>
          </a:bodyPr>
          <a:lstStyle/>
          <a:p>
            <a:r>
              <a:rPr lang="pl-PL" sz="2100" dirty="0"/>
              <a:t>Powyższe wyniki zostały obliczone na drzewie bez zoptymalizowanych </a:t>
            </a:r>
            <a:r>
              <a:rPr lang="pl-PL" sz="2100" dirty="0" err="1"/>
              <a:t>hiperparametrów</a:t>
            </a:r>
            <a:endParaRPr lang="pl-PL" sz="2100" dirty="0"/>
          </a:p>
          <a:p>
            <a:r>
              <a:rPr lang="pl-PL" sz="2100" dirty="0"/>
              <a:t>Zysk biznesowy - model generuje ogromną liczbę fałszywych alarmów (FP), za które odbieramy mu punkty (-0.25), a jednocześnie niemal w ogóle nie wykrywa prawdziwych zawałów (brak punktów dodatnich za TP).</a:t>
            </a:r>
          </a:p>
          <a:p>
            <a:r>
              <a:rPr lang="pl-PL" sz="2100" dirty="0"/>
              <a:t>ROC AUC - wynik 0.53 oznacza, że to bazowe drzewo nie znalazło absolutnie żadnych sensownych reguł medycznych. Nie potrafi odróżnić pacjenta chorego od zdrowego.</a:t>
            </a:r>
          </a:p>
          <a:p>
            <a:r>
              <a:rPr lang="pl-PL" sz="2100" dirty="0"/>
              <a:t>PR AUC - wynik wynosi ~0.055 (czyli 5.5%). To potwierdza, że precyzja tego modelu jest równa losowemu strzelaniu, ponieważ osób chorych w zbiorze jest ~5%</a:t>
            </a:r>
          </a:p>
          <a:p>
            <a:r>
              <a:rPr lang="pl-PL" sz="2100" dirty="0"/>
              <a:t>F2-Score – wynik 0.11 oznacza, że większość osób z zawałami zostało uznanych za zdrowe</a:t>
            </a:r>
          </a:p>
          <a:p>
            <a:endParaRPr lang="pl-PL" sz="2100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D5062F39-108E-BECD-270A-6068F643B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4650"/>
            <a:ext cx="64897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33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54FBB2B-7CE4-749F-7DBA-B1411CB75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Badania </a:t>
            </a:r>
            <a:r>
              <a:rPr lang="pl-PL" dirty="0" err="1"/>
              <a:t>hiperparametrów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23457BD-DA92-C56C-9D7E-5E8DBBC7D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6038193" cy="3581400"/>
          </a:xfrm>
        </p:spPr>
        <p:txBody>
          <a:bodyPr/>
          <a:lstStyle/>
          <a:p>
            <a:r>
              <a:rPr lang="pl-PL" dirty="0" err="1"/>
              <a:t>max_depth</a:t>
            </a:r>
            <a:r>
              <a:rPr lang="pl-PL" dirty="0"/>
              <a:t> – maksymalna głębokość drzewa. Ile „pytań” może drzewo sekwencyjnie zadać przed podjęciem decyzji. Zbyt duże może prowadzić do </a:t>
            </a:r>
            <a:r>
              <a:rPr lang="pl-PL" dirty="0" err="1"/>
              <a:t>overfittingu</a:t>
            </a:r>
            <a:endParaRPr lang="pl-PL" dirty="0"/>
          </a:p>
          <a:p>
            <a:r>
              <a:rPr lang="pl-PL" dirty="0" err="1"/>
              <a:t>min_samples_leaf</a:t>
            </a:r>
            <a:r>
              <a:rPr lang="pl-PL" dirty="0"/>
              <a:t> – minimalna liczba próbek w liściu. Ile musi wystąpić przypadków, aby model uznał regułę za ważną</a:t>
            </a:r>
          </a:p>
          <a:p>
            <a:r>
              <a:rPr lang="pl-PL" dirty="0" err="1"/>
              <a:t>class_weight</a:t>
            </a:r>
            <a:r>
              <a:rPr lang="pl-PL" dirty="0"/>
              <a:t> – wagi klas (nakładanie „kar” za pomyłki).</a:t>
            </a:r>
          </a:p>
          <a:p>
            <a:endParaRPr lang="pl-PL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7035BBD0-D33D-48FC-E0F2-51EEB15AA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135" y="1102491"/>
            <a:ext cx="4140200" cy="2540000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BFF2309E-9750-9FFB-DF1B-04424CF11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0133" y="3568700"/>
            <a:ext cx="4140201" cy="229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180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2D8B544-0299-7529-49A9-6E326CC7D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516" y="634741"/>
            <a:ext cx="10011103" cy="570299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pl-PL" dirty="0"/>
          </a:p>
          <a:p>
            <a:endParaRPr lang="pl-PL" dirty="0"/>
          </a:p>
          <a:p>
            <a:r>
              <a:rPr lang="pl-PL" dirty="0"/>
              <a:t>Dla najlepszych znalezionych parametrów badane metryki prezentują się następująco:</a:t>
            </a:r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r>
              <a:rPr lang="pl-PL" dirty="0"/>
              <a:t>Widać, że model nie „zbankrutował” – zysk biznesowy jest dodatni</a:t>
            </a:r>
          </a:p>
          <a:p>
            <a:r>
              <a:rPr lang="pl-PL" dirty="0"/>
              <a:t>ROC AUC - drzewo skutecznie odseparowało większość (81%) "ewidentnie zdrowych" od grupy ryzyka.</a:t>
            </a:r>
          </a:p>
          <a:p>
            <a:r>
              <a:rPr lang="pl-PL" dirty="0"/>
              <a:t>PR AUC – około 18%. Oznacza, że na 100 pacjentów uznanych przez model za chorych, tylko 18 było faktycznie chorych. Ze względu na to, że zawały danych to rzadkość (ok. 5%), każdy alert ma niską precyzję.</a:t>
            </a:r>
          </a:p>
          <a:p>
            <a:r>
              <a:rPr lang="pl-PL" dirty="0"/>
              <a:t>F2-Score - wynik ten potwierdza, że system woli profilaktycznie podnieść alarm, niż zaryzykować przeoczenie chorego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4F98CEDE-5EE8-59F2-B7B1-DA274A64F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516" y="739845"/>
            <a:ext cx="7772400" cy="529936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8D460892-1E46-D0BE-2C2A-14E6D1512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516" y="2069224"/>
            <a:ext cx="7520153" cy="147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88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5F50E-B7C4-F56A-4037-4A02B7D99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az 8">
            <a:extLst>
              <a:ext uri="{FF2B5EF4-FFF2-40B4-BE49-F238E27FC236}">
                <a16:creationId xmlns:a16="http://schemas.microsoft.com/office/drawing/2014/main" id="{90412A43-153C-A598-BAEA-F46640B23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915" y="3170929"/>
            <a:ext cx="10210170" cy="3325735"/>
          </a:xfrm>
          <a:prstGeom prst="rect">
            <a:avLst/>
          </a:prstGeom>
        </p:spPr>
      </p:pic>
      <p:sp>
        <p:nvSpPr>
          <p:cNvPr id="12" name="Symbol zastępczy zawartości 2">
            <a:extLst>
              <a:ext uri="{FF2B5EF4-FFF2-40B4-BE49-F238E27FC236}">
                <a16:creationId xmlns:a16="http://schemas.microsoft.com/office/drawing/2014/main" id="{23147CF5-FF62-640B-50E0-A04E64159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982" y="130245"/>
            <a:ext cx="10011103" cy="570299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l-PL" dirty="0"/>
          </a:p>
          <a:p>
            <a:r>
              <a:rPr lang="pl-PL" dirty="0"/>
              <a:t>Na poniższych wykresach widać zjawisko </a:t>
            </a:r>
            <a:r>
              <a:rPr lang="pl-PL" dirty="0" err="1"/>
              <a:t>overfittingu</a:t>
            </a:r>
            <a:r>
              <a:rPr lang="pl-PL" dirty="0"/>
              <a:t> – jak zmiana głębokości drzewa wpływa na skuteczność modelu (</a:t>
            </a:r>
            <a:r>
              <a:rPr lang="pl-PL" dirty="0" err="1"/>
              <a:t>Recall</a:t>
            </a:r>
            <a:r>
              <a:rPr lang="pl-PL" dirty="0"/>
              <a:t> i </a:t>
            </a:r>
            <a:r>
              <a:rPr lang="pl-PL" dirty="0" err="1"/>
              <a:t>Accuracy</a:t>
            </a:r>
            <a:r>
              <a:rPr lang="pl-PL" dirty="0"/>
              <a:t>)</a:t>
            </a:r>
          </a:p>
          <a:p>
            <a:r>
              <a:rPr lang="pl-PL" dirty="0"/>
              <a:t>Głębokość 3-4 są złotym środkiem. To jest ten moment, w którym drzewo wyłapało najważniejsze, ogólne reguły medyczne. Dla głębokości &gt;5 model zaczął zapamiętywać dane treningowe przez co skuteczność była coraz gorsza.</a:t>
            </a:r>
          </a:p>
          <a:p>
            <a:r>
              <a:rPr lang="pl-PL" dirty="0"/>
              <a:t>Dla głębokości = 1 widać, że model miał najlepsze </a:t>
            </a:r>
            <a:r>
              <a:rPr lang="pl-PL" dirty="0" err="1"/>
              <a:t>Acurracy</a:t>
            </a:r>
            <a:r>
              <a:rPr lang="pl-PL" dirty="0"/>
              <a:t>, ponieważ zgadł, że wszyscy są zdrowi, ale przez to też nie rozpoznał żadnego chorego (niski </a:t>
            </a:r>
            <a:r>
              <a:rPr lang="pl-PL" dirty="0" err="1"/>
              <a:t>Recall</a:t>
            </a:r>
            <a:r>
              <a:rPr lang="pl-PL" dirty="0"/>
              <a:t>)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314318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4AAE57A0-E5C2-671D-919D-8A59CB721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407" y="785752"/>
            <a:ext cx="10635186" cy="528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616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2B1A7D-1F01-41F1-47C3-664E19790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Model 2 – Regresja logistyczna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3E7A083-D7D7-FF57-A357-5D53905F0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38299"/>
            <a:ext cx="9601200" cy="4426169"/>
          </a:xfrm>
        </p:spPr>
        <p:txBody>
          <a:bodyPr>
            <a:normAutofit/>
          </a:bodyPr>
          <a:lstStyle/>
          <a:p>
            <a:r>
              <a:rPr lang="pl-PL" sz="2300" dirty="0"/>
              <a:t>Selekcja cech:</a:t>
            </a:r>
          </a:p>
          <a:p>
            <a:endParaRPr lang="pl-PL" sz="2300" dirty="0"/>
          </a:p>
          <a:p>
            <a:endParaRPr lang="pl-PL" sz="2300" dirty="0"/>
          </a:p>
          <a:p>
            <a:endParaRPr lang="pl-PL" sz="2300" dirty="0"/>
          </a:p>
          <a:p>
            <a:endParaRPr lang="pl-PL" sz="2300" dirty="0"/>
          </a:p>
          <a:p>
            <a:endParaRPr lang="pl-PL" sz="2300" dirty="0"/>
          </a:p>
          <a:p>
            <a:r>
              <a:rPr lang="pl-PL" sz="2300" dirty="0"/>
              <a:t>Wybrano 14 z 16 cech. </a:t>
            </a:r>
          </a:p>
          <a:p>
            <a:r>
              <a:rPr lang="pl-PL" sz="2300" dirty="0"/>
              <a:t>Jedyne nie wybrane cechy: </a:t>
            </a:r>
            <a:r>
              <a:rPr lang="pl-PL" sz="2300" dirty="0" err="1"/>
              <a:t>gender_Other</a:t>
            </a:r>
            <a:r>
              <a:rPr lang="pl-PL" sz="2300" dirty="0"/>
              <a:t>, </a:t>
            </a:r>
            <a:r>
              <a:rPr lang="pl-PL" sz="2300" dirty="0" err="1"/>
              <a:t>work_type_Never_worked</a:t>
            </a:r>
            <a:endParaRPr lang="pl-PL" sz="2300" dirty="0"/>
          </a:p>
          <a:p>
            <a:endParaRPr lang="pl-PL" sz="2300" dirty="0"/>
          </a:p>
          <a:p>
            <a:endParaRPr lang="pl-PL" sz="2300" dirty="0"/>
          </a:p>
          <a:p>
            <a:endParaRPr lang="pl-PL" sz="2300" dirty="0"/>
          </a:p>
          <a:p>
            <a:pPr marL="0" indent="0">
              <a:buNone/>
            </a:pPr>
            <a:endParaRPr lang="pl-PL" sz="2300" dirty="0"/>
          </a:p>
          <a:p>
            <a:endParaRPr lang="pl-PL" sz="2300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2E421F1-2DE9-78C1-C17C-06B7CF136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401" y="2171700"/>
            <a:ext cx="8799198" cy="644227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14116AE4-B143-34E5-28C3-9A14B7707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400" y="2815927"/>
            <a:ext cx="8799199" cy="102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973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961E59-6B54-28AA-CC42-E58DD0A59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31450"/>
            <a:ext cx="9601200" cy="1485900"/>
          </a:xfrm>
        </p:spPr>
        <p:txBody>
          <a:bodyPr/>
          <a:lstStyle/>
          <a:p>
            <a:r>
              <a:rPr lang="pl-PL" dirty="0"/>
              <a:t>Parametry modelu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C272F8CB-17F3-244B-3A42-4AD21BC92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98423"/>
            <a:ext cx="9884979" cy="1213011"/>
          </a:xfrm>
          <a:prstGeom prst="rect">
            <a:avLst/>
          </a:prstGeom>
        </p:spPr>
      </p:pic>
      <p:sp>
        <p:nvSpPr>
          <p:cNvPr id="15" name="Symbol zastępczy zawartości 14">
            <a:extLst>
              <a:ext uri="{FF2B5EF4-FFF2-40B4-BE49-F238E27FC236}">
                <a16:creationId xmlns:a16="http://schemas.microsoft.com/office/drawing/2014/main" id="{559A73EF-85F0-C047-F744-9C3A817BF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758578"/>
            <a:ext cx="10526110" cy="3978553"/>
          </a:xfrm>
        </p:spPr>
        <p:txBody>
          <a:bodyPr>
            <a:normAutofit lnSpcReduction="10000"/>
          </a:bodyPr>
          <a:lstStyle/>
          <a:p>
            <a:r>
              <a:rPr lang="pl-PL" dirty="0" err="1"/>
              <a:t>Penalty</a:t>
            </a:r>
            <a:r>
              <a:rPr lang="pl-PL" dirty="0"/>
              <a:t> – kara / </a:t>
            </a:r>
            <a:r>
              <a:rPr lang="pl-PL" dirty="0" err="1"/>
              <a:t>regularyzacja</a:t>
            </a:r>
            <a:r>
              <a:rPr lang="pl-PL" dirty="0"/>
              <a:t>. Karze model za tworzenie zbyt skomplikowanych równań opartych na pojedynczych, specyficznych cechach.</a:t>
            </a:r>
          </a:p>
          <a:p>
            <a:pPr lvl="1"/>
            <a:r>
              <a:rPr lang="pl-PL" dirty="0"/>
              <a:t>L1 -  zeruje nieistotne wagi</a:t>
            </a:r>
          </a:p>
          <a:p>
            <a:pPr lvl="1"/>
            <a:r>
              <a:rPr lang="pl-PL" dirty="0"/>
              <a:t>L2 – używa wszystkich cech, nie zeruje ich, lecz zmusza do przyjmowania mniejszych wartości</a:t>
            </a:r>
          </a:p>
          <a:p>
            <a:r>
              <a:rPr lang="pl-PL" dirty="0"/>
              <a:t>C – odwrotność siły </a:t>
            </a:r>
            <a:r>
              <a:rPr lang="pl-PL" dirty="0" err="1"/>
              <a:t>regularyzacji</a:t>
            </a:r>
            <a:endParaRPr lang="pl-PL" dirty="0"/>
          </a:p>
          <a:p>
            <a:pPr lvl="1"/>
            <a:r>
              <a:rPr lang="pl-PL" dirty="0"/>
              <a:t>Niskie (np. 0.01, 0.001) – model jest zmuszony do znajdowania najprostszych reguł</a:t>
            </a:r>
          </a:p>
          <a:p>
            <a:pPr lvl="1"/>
            <a:r>
              <a:rPr lang="pl-PL" dirty="0"/>
              <a:t>Wysokie (np. 10, 100) – model ma pełną swobodę, co może skończyć się </a:t>
            </a:r>
            <a:r>
              <a:rPr lang="pl-PL" dirty="0" err="1"/>
              <a:t>overfittingiem</a:t>
            </a:r>
            <a:endParaRPr lang="pl-PL" dirty="0"/>
          </a:p>
          <a:p>
            <a:r>
              <a:rPr lang="pl-PL" dirty="0" err="1"/>
              <a:t>Class_weight</a:t>
            </a:r>
            <a:r>
              <a:rPr lang="pl-PL" dirty="0"/>
              <a:t> – waga klas</a:t>
            </a:r>
          </a:p>
          <a:p>
            <a:pPr lvl="1"/>
            <a:r>
              <a:rPr lang="pl-PL" dirty="0" err="1"/>
              <a:t>Balanced</a:t>
            </a:r>
            <a:r>
              <a:rPr lang="pl-PL" dirty="0"/>
              <a:t> – rzadsze klasy otrzymują większe wagi niż te częstsze, więc u nas waga klasy (1) – chorzy  jest większa około 19 razy od wagi klasy (0) – zdrowi.</a:t>
            </a:r>
          </a:p>
        </p:txBody>
      </p:sp>
    </p:spTree>
    <p:extLst>
      <p:ext uri="{BB962C8B-B14F-4D97-AF65-F5344CB8AC3E}">
        <p14:creationId xmlns:p14="http://schemas.microsoft.com/office/powerpoint/2010/main" val="1129407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1E9293-0F99-C4B2-3796-C3F86BD37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niezoptymalizowanego modelu</a:t>
            </a:r>
          </a:p>
        </p:txBody>
      </p:sp>
      <p:sp>
        <p:nvSpPr>
          <p:cNvPr id="4" name="Symbol zastępczy zawartości 6">
            <a:extLst>
              <a:ext uri="{FF2B5EF4-FFF2-40B4-BE49-F238E27FC236}">
                <a16:creationId xmlns:a16="http://schemas.microsoft.com/office/drawing/2014/main" id="{BD4E965D-D189-8D4A-3902-2804D9D4EA27}"/>
              </a:ext>
            </a:extLst>
          </p:cNvPr>
          <p:cNvSpPr txBox="1">
            <a:spLocks/>
          </p:cNvSpPr>
          <p:nvPr/>
        </p:nvSpPr>
        <p:spPr>
          <a:xfrm>
            <a:off x="1295400" y="3683875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Zysk biznesowy - aby uzyskać wynik -22.50, model musiał wskazać bardzo dużo fałszywych alarmów. Przewidywał, że niemal każdy pacjent ma udar. Wynika to z tego, że </a:t>
            </a:r>
            <a:r>
              <a:rPr lang="pl-PL" dirty="0" err="1"/>
              <a:t>class_weight</a:t>
            </a:r>
            <a:r>
              <a:rPr lang="pl-PL" dirty="0"/>
              <a:t> = </a:t>
            </a:r>
            <a:r>
              <a:rPr lang="pl-PL" dirty="0" err="1"/>
              <a:t>balaced</a:t>
            </a:r>
            <a:r>
              <a:rPr lang="pl-PL" dirty="0"/>
              <a:t>, przez co model nie chciał przeoczyć żadnej chorej osoby. </a:t>
            </a:r>
          </a:p>
          <a:p>
            <a:r>
              <a:rPr lang="pl-PL" dirty="0"/>
              <a:t>ROC AUC i PR AUC – Jest lepsze niż w zoptymalizowanym drzewie decyzyjnym, model o wiele lepiej wydziela osoby zdrowe od chorych </a:t>
            </a:r>
          </a:p>
          <a:p>
            <a:endParaRPr lang="pl-PL" dirty="0"/>
          </a:p>
          <a:p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175EC5A-4778-C7C0-32E4-F1653416D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84282"/>
            <a:ext cx="7646276" cy="163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44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19D70F-3FE7-3A1A-2942-B760DE98B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49469"/>
            <a:ext cx="9601200" cy="1485900"/>
          </a:xfrm>
        </p:spPr>
        <p:txBody>
          <a:bodyPr/>
          <a:lstStyle/>
          <a:p>
            <a:r>
              <a:rPr lang="pl-PL" dirty="0"/>
              <a:t>Optymalizacja </a:t>
            </a:r>
            <a:r>
              <a:rPr lang="pl-PL" dirty="0" err="1"/>
              <a:t>hiperparametrów</a:t>
            </a:r>
            <a:endParaRPr lang="pl-PL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B0A395A5-9F4C-E651-CC9A-141ABDA19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42671"/>
            <a:ext cx="9355247" cy="516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208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2A82DDC-368E-4B2E-97BA-A763297E8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785445"/>
            <a:ext cx="9601200" cy="4825124"/>
          </a:xfrm>
        </p:spPr>
        <p:txBody>
          <a:bodyPr>
            <a:normAutofit lnSpcReduction="10000"/>
          </a:bodyPr>
          <a:lstStyle/>
          <a:p>
            <a:r>
              <a:rPr lang="pl-PL" dirty="0"/>
              <a:t>Biorąc pod uwagę powyższe </a:t>
            </a:r>
            <a:r>
              <a:rPr lang="pl-PL" dirty="0" err="1"/>
              <a:t>hiperparametry</a:t>
            </a:r>
            <a:r>
              <a:rPr lang="pl-PL" dirty="0"/>
              <a:t>, wyniki nowego modelu prezentują się następująco:</a:t>
            </a:r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r>
              <a:rPr lang="pl-PL" dirty="0"/>
              <a:t>Widać, że zysk biznesowy zdecydowanie się podniósł, kosztem utarty około 1% skuteczności w ROC AUC i PR AUC. </a:t>
            </a:r>
          </a:p>
          <a:p>
            <a:r>
              <a:rPr lang="pl-PL" dirty="0"/>
              <a:t>F2-Score opadł z 0,40 na 0,32 co oznacza, że model wyłapuje mniej chorych przypadków</a:t>
            </a:r>
          </a:p>
          <a:p>
            <a:r>
              <a:rPr lang="pl-PL" dirty="0"/>
              <a:t>Model poprzednio interpretował większość objawów jako zwał, natomiast teraz lepiej (pod względem biznesowym) dokonuje selekcji i zdecydowanie mniej wskazuje fałszywych alarmów.</a:t>
            </a:r>
          </a:p>
          <a:p>
            <a:endParaRPr lang="pl-PL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8FC73526-A185-1843-C09D-2AD2CAC67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9" y="609554"/>
            <a:ext cx="6679324" cy="1014928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DFDAE3E3-5ED0-4098-5271-D13C7036E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625592"/>
            <a:ext cx="6679323" cy="137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79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7A59748-FE6C-A3AC-87C5-3246BD8DA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Model 3 - SVM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6E392F7-087E-514D-BBC2-BDBCCB0ED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3276600"/>
            <a:ext cx="9601200" cy="3581400"/>
          </a:xfrm>
        </p:spPr>
        <p:txBody>
          <a:bodyPr/>
          <a:lstStyle/>
          <a:p>
            <a:r>
              <a:rPr lang="pl-PL" dirty="0"/>
              <a:t>Powyższe wyniki zostały obliczone na modelu SVM bez zoptymalizowanych </a:t>
            </a:r>
            <a:r>
              <a:rPr lang="pl-PL" dirty="0" err="1"/>
              <a:t>hiperparametrów</a:t>
            </a:r>
            <a:endParaRPr lang="pl-PL" dirty="0"/>
          </a:p>
          <a:p>
            <a:r>
              <a:rPr lang="pl-PL" dirty="0"/>
              <a:t>Zysk Biznesowy i F2-Score - domyślny model nie wskazał ani jednej chorej osoby</a:t>
            </a:r>
          </a:p>
          <a:p>
            <a:r>
              <a:rPr lang="pl-PL" dirty="0"/>
              <a:t>ROC AUC – pokazuje, że mimo, że model nie wskazał ani jednej chorej osoby, to ułożył pacjentów na swoim wykresie w kolejności, która jest nieco lepsza niż rzut monetą</a:t>
            </a:r>
          </a:p>
          <a:p>
            <a:r>
              <a:rPr lang="pl-PL" dirty="0"/>
              <a:t>PR AUC – wynik potwierdza, że model ma duży problem z precyzyjnym wskazaniem chorych. Nawet ci pacjenci, którym model przypisał najwyższe prawdopodobieństwo zawału (choć wciąż poniżej 50%), to w przeważającej większości osoby zdrowe.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77E48FA5-8C17-3598-0005-07B77F381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7507"/>
            <a:ext cx="74930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073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BF7EFDB2-BC34-A91A-EE6E-4FA54083E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1801" y="2655176"/>
            <a:ext cx="2351071" cy="4062249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D96351E9-A1DD-DA7F-D0D5-4C15E7D4C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Optymalizacja </a:t>
            </a:r>
            <a:r>
              <a:rPr lang="pl-PL" dirty="0" err="1"/>
              <a:t>hiperparametrów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9814F64-7EED-B7CD-5452-66388EEA0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3053255"/>
            <a:ext cx="7845972" cy="3581400"/>
          </a:xfrm>
        </p:spPr>
        <p:txBody>
          <a:bodyPr>
            <a:normAutofit lnSpcReduction="10000"/>
          </a:bodyPr>
          <a:lstStyle/>
          <a:p>
            <a:r>
              <a:rPr lang="pl-PL" dirty="0" err="1"/>
              <a:t>Kernel</a:t>
            </a:r>
            <a:r>
              <a:rPr lang="pl-PL" dirty="0"/>
              <a:t> – jakie narzędzie zostanie wykorzystane do oddzielenia pacjentów: </a:t>
            </a:r>
            <a:r>
              <a:rPr lang="pl-PL" dirty="0" err="1"/>
              <a:t>linear</a:t>
            </a:r>
            <a:r>
              <a:rPr lang="pl-PL" dirty="0"/>
              <a:t>, </a:t>
            </a:r>
            <a:r>
              <a:rPr lang="pl-PL" dirty="0" err="1"/>
              <a:t>rbf</a:t>
            </a:r>
            <a:r>
              <a:rPr lang="pl-PL" dirty="0"/>
              <a:t>, </a:t>
            </a:r>
            <a:r>
              <a:rPr lang="pl-PL" dirty="0" err="1"/>
              <a:t>poly</a:t>
            </a:r>
            <a:endParaRPr lang="pl-PL" dirty="0"/>
          </a:p>
          <a:p>
            <a:r>
              <a:rPr lang="pl-PL" dirty="0"/>
              <a:t>C – parametr </a:t>
            </a:r>
            <a:r>
              <a:rPr lang="pl-PL" dirty="0" err="1"/>
              <a:t>regularyzacji</a:t>
            </a:r>
            <a:r>
              <a:rPr lang="pl-PL" dirty="0"/>
              <a:t> </a:t>
            </a:r>
          </a:p>
          <a:p>
            <a:pPr lvl="1"/>
            <a:r>
              <a:rPr lang="pl-PL" dirty="0"/>
              <a:t>Niskie (0.1, 1) – tworzy prostą granicę oddzielającą klasy</a:t>
            </a:r>
          </a:p>
          <a:p>
            <a:pPr lvl="1"/>
            <a:r>
              <a:rPr lang="pl-PL" dirty="0"/>
              <a:t>Wysokie (10, 100) – model próbuje idealnie dopasować granicę</a:t>
            </a:r>
          </a:p>
          <a:p>
            <a:r>
              <a:rPr lang="pl-PL" dirty="0"/>
              <a:t>Gamma – zasięg wpływu pojedynczego przykładu(dotyczy </a:t>
            </a:r>
            <a:r>
              <a:rPr lang="pl-PL" dirty="0" err="1"/>
              <a:t>rbf</a:t>
            </a:r>
            <a:r>
              <a:rPr lang="pl-PL" dirty="0"/>
              <a:t> i </a:t>
            </a:r>
            <a:r>
              <a:rPr lang="pl-PL" dirty="0" err="1"/>
              <a:t>poly</a:t>
            </a:r>
            <a:r>
              <a:rPr lang="pl-PL" dirty="0"/>
              <a:t>)</a:t>
            </a:r>
          </a:p>
          <a:p>
            <a:r>
              <a:rPr lang="pl-PL" dirty="0" err="1"/>
              <a:t>Degree</a:t>
            </a:r>
            <a:r>
              <a:rPr lang="pl-PL" dirty="0"/>
              <a:t> – stopień wielomianu</a:t>
            </a:r>
          </a:p>
          <a:p>
            <a:r>
              <a:rPr lang="pl-PL" dirty="0" err="1"/>
              <a:t>Class_weight</a:t>
            </a:r>
            <a:r>
              <a:rPr lang="pl-PL" dirty="0"/>
              <a:t> – przy „</a:t>
            </a:r>
            <a:r>
              <a:rPr lang="pl-PL" dirty="0" err="1"/>
              <a:t>balanced</a:t>
            </a:r>
            <a:r>
              <a:rPr lang="pl-PL" dirty="0"/>
              <a:t>” model nadaje klasie mniejszościowej taką wagę, by liczyła się tak jak większościowa.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AA95B36C-27FE-661A-4FD9-253EDF139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64344"/>
            <a:ext cx="10041272" cy="125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216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CEA71B-F145-6D15-B033-7439F0DBA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Szukanie progu decyzyjnego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7803864-7161-8015-E000-8CAC2F499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4598276"/>
            <a:ext cx="9601200" cy="3581400"/>
          </a:xfrm>
        </p:spPr>
        <p:txBody>
          <a:bodyPr>
            <a:normAutofit/>
          </a:bodyPr>
          <a:lstStyle/>
          <a:p>
            <a:r>
              <a:rPr lang="pl-PL" sz="2200" dirty="0"/>
              <a:t>Optymalny próg decyzyjny (CV) dla maksymalizacji zysku biznesowego wynosi 0.29 (Zysk sumaryczny CV: 10.25)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11923379-6C40-3259-4000-234D56C27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18840"/>
            <a:ext cx="9601200" cy="236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332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828E8DA-276B-9691-1B62-4B690D0F5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714703"/>
            <a:ext cx="10192407" cy="5906813"/>
          </a:xfrm>
        </p:spPr>
        <p:txBody>
          <a:bodyPr>
            <a:normAutofit/>
          </a:bodyPr>
          <a:lstStyle/>
          <a:p>
            <a:r>
              <a:rPr lang="pl-PL" dirty="0"/>
              <a:t>Dla najlepszych znalezionych parametrów badane metryki prezentują się następująco:</a:t>
            </a:r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r>
              <a:rPr lang="pl-PL" dirty="0"/>
              <a:t>ROC AUC i PR AUC wskazują na to, że model potrafi w większości ułożyć pacjentów w odpowiedniej kolejności od najzdrowszego do najbardziej chorego.</a:t>
            </a:r>
          </a:p>
          <a:p>
            <a:r>
              <a:rPr lang="pl-PL" dirty="0"/>
              <a:t>F2-Score na poziomie 11% oznacza, że model niemal nikogo nie wykrywa. </a:t>
            </a:r>
          </a:p>
          <a:p>
            <a:r>
              <a:rPr lang="pl-PL" dirty="0"/>
              <a:t>Zysk biznesowy – 0.25 mówi, że model zaryzykował, wskazał bardzo mało osób i prawdopodobnie </a:t>
            </a:r>
            <a:r>
              <a:rPr lang="pl-PL" b="1" dirty="0"/>
              <a:t>5 punkt za trafienie (1 TP) oraz stracił 4,75 punktu za 19 fałszywych alarmów (3 FP)</a:t>
            </a:r>
            <a:r>
              <a:rPr lang="pl-PL" dirty="0"/>
              <a:t>.Przeoczył przy tym 90% pacjentów. Działa ledwie zauważalnie lepiej niż model, który milczy całkowicie (zysk 0.00).</a:t>
            </a:r>
          </a:p>
          <a:p>
            <a:endParaRPr lang="pl-PL" dirty="0"/>
          </a:p>
          <a:p>
            <a:endParaRPr lang="pl-PL" dirty="0"/>
          </a:p>
          <a:p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D0BA990-676A-B77F-9639-4CBB12D9C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489" y="1268112"/>
            <a:ext cx="8994228" cy="156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5810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52A537FA-4907-CE57-FCB1-D181CCAF4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442" y="501576"/>
            <a:ext cx="10735893" cy="585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1844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8E20652-AFEB-7D21-4D39-1F7F3A679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Porównanie wszystkich modeli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6511C67-564E-B3A9-B6C2-A72A1DBEB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3820510" cy="3581400"/>
          </a:xfrm>
        </p:spPr>
        <p:txBody>
          <a:bodyPr>
            <a:normAutofit/>
          </a:bodyPr>
          <a:lstStyle/>
          <a:p>
            <a:r>
              <a:rPr lang="pl-PL" sz="2200" dirty="0"/>
              <a:t>Największą różnicę w zysku biznesowym widać w przypadku regresji logistycznej, która nie dość, że zwiększyła swój wynik, to okazała się najopłacalniejszym modelem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013A8F5-8908-D9BE-EB7A-2B7BA4A7F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116" y="2200274"/>
            <a:ext cx="6273997" cy="375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9056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F3A50C6-7D6E-9D5D-F99A-E445951F1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331076"/>
            <a:ext cx="9601200" cy="3581400"/>
          </a:xfrm>
        </p:spPr>
        <p:txBody>
          <a:bodyPr/>
          <a:lstStyle/>
          <a:p>
            <a:r>
              <a:rPr lang="pl-PL" dirty="0"/>
              <a:t>W przypadku F2-Score największą różnicę widać dla Drzewa Decyzyjnego. Optymalizacja (zwłaszcza dodanie kary za przeoczenie zawału – </a:t>
            </a:r>
            <a:r>
              <a:rPr lang="pl-PL" dirty="0" err="1"/>
              <a:t>class_weight</a:t>
            </a:r>
            <a:r>
              <a:rPr lang="pl-PL" dirty="0"/>
              <a:t>) brutalnie wymusiła na drzewie skupienie się na chorych. Model zaczął aktywnie szukać zawałów i je wyłapywać.</a:t>
            </a:r>
          </a:p>
          <a:p>
            <a:r>
              <a:rPr lang="pl-PL" dirty="0"/>
              <a:t>Mimo, że F2-Score był bardzo wysoki dla Regresji Logistycznej, to zysk był ujemny, więc model uznawał większość osób za chore dlatego optymalizacja doprowadziła do jego obniżenia</a:t>
            </a:r>
          </a:p>
          <a:p>
            <a:endParaRPr lang="pl-PL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8EE94F74-98B5-7A84-495D-4C16FBCE7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550" y="2858814"/>
            <a:ext cx="6260754" cy="366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9272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6349E7D-7F6F-453D-29EB-24F349ABF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383628"/>
            <a:ext cx="4716518" cy="5764924"/>
          </a:xfrm>
        </p:spPr>
        <p:txBody>
          <a:bodyPr>
            <a:normAutofit/>
          </a:bodyPr>
          <a:lstStyle/>
          <a:p>
            <a:r>
              <a:rPr lang="pl-PL" dirty="0"/>
              <a:t>Dla Drzewa Decyzyjnego i SVM widać duży wzrost w wynikach. Po zastosowaniu </a:t>
            </a:r>
            <a:r>
              <a:rPr lang="pl-PL" dirty="0" err="1"/>
              <a:t>GridSearchCV</a:t>
            </a:r>
            <a:r>
              <a:rPr lang="pl-PL" dirty="0"/>
              <a:t>, oba algorytmy dokonały skoku i stały się porównywalne do Regresji Logistycznej.</a:t>
            </a:r>
          </a:p>
          <a:p>
            <a:r>
              <a:rPr lang="pl-PL" dirty="0"/>
              <a:t>Regresja Logistyczna zachowała się zupełnie inaczej. Jej wyniki są niemal równe przed i po optymalizacji. Oznacza to, że ten algorytm już na domyślnych ustawieniach świetnie zrozumiał problem (wysokie ROC i PR). Optymalizacja w jej przypadku nie polegała na nauce od nowa, lecz na zmodyfikowaniu modelu, by przestał generować fałszywe alarmy. Drobny spadek na wykresie PR AUC po optymalizacji to właśnie koszt tej modyfikacji.</a:t>
            </a:r>
          </a:p>
          <a:p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F8D0E8E-4A53-A678-9775-C414F4565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083" y="328448"/>
            <a:ext cx="5788572" cy="3234559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C8E15277-FFAA-DE04-7C34-63811FDE0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083" y="3342290"/>
            <a:ext cx="5788572" cy="331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8728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E8561CF-45D5-9A39-7362-1DE61FFD5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Podsummowanie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2255C6C-7F73-B6DF-6152-3DC196DF6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dirty="0"/>
              <a:t>Dla zbioru „</a:t>
            </a:r>
            <a:r>
              <a:rPr lang="pl-PL" dirty="0" err="1"/>
              <a:t>Stroke</a:t>
            </a:r>
            <a:r>
              <a:rPr lang="pl-PL" dirty="0"/>
              <a:t> </a:t>
            </a:r>
            <a:r>
              <a:rPr lang="pl-PL" dirty="0" err="1"/>
              <a:t>Prediction</a:t>
            </a:r>
            <a:r>
              <a:rPr lang="pl-PL" dirty="0"/>
              <a:t> </a:t>
            </a:r>
            <a:r>
              <a:rPr lang="pl-PL" dirty="0" err="1"/>
              <a:t>Dataset</a:t>
            </a:r>
            <a:r>
              <a:rPr lang="pl-PL" dirty="0"/>
              <a:t>” najlepszym modelem zdecydowanie jest Regresja Logistyczna. Miała ona najwyższy Zysk Biznesowy, więc była najbardziej opłacalna. </a:t>
            </a:r>
          </a:p>
          <a:p>
            <a:r>
              <a:rPr lang="pl-PL" dirty="0"/>
              <a:t>W przypadku ROC AUC i PR AUC również model miał minimalną przewagę nad pozostałymi</a:t>
            </a:r>
          </a:p>
          <a:p>
            <a:r>
              <a:rPr lang="pl-PL" dirty="0"/>
              <a:t>Tylko dla F2-Score Regresja Logistyczna przegrała z Drzewem decyzyjnym, ponieważ F2-Score opiera się tylko na wyłapywaniu zawałów, nie zwracając uwagi na fałszywe alarmy </a:t>
            </a:r>
          </a:p>
          <a:p>
            <a:r>
              <a:rPr lang="pl-PL" dirty="0"/>
              <a:t>Gdybyśmy skupiali się wyłącznie na ocaleniu jak największej liczby chorych, nie patrząc na koszty badań i zaufanie do naszej aplikacji, wtedy Drzewo Decyzyjne byłoby lepszym rozwiązaniem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237815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B34EFEF-37A9-DB75-FC29-22E6183F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Podział prac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6BADEC5-2F02-12F7-EF39-2DF2BCAB6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400" dirty="0"/>
              <a:t>Czesław Komenda – Regresja Logistyczna, prezentacja, interpretacja wyników</a:t>
            </a:r>
          </a:p>
          <a:p>
            <a:endParaRPr lang="pl-PL" sz="2400" dirty="0"/>
          </a:p>
          <a:p>
            <a:r>
              <a:rPr lang="pl-PL" sz="2400" dirty="0"/>
              <a:t>Michał </a:t>
            </a:r>
            <a:r>
              <a:rPr lang="pl-PL" sz="2400" dirty="0" err="1"/>
              <a:t>Iwanejko</a:t>
            </a:r>
            <a:r>
              <a:rPr lang="pl-PL" sz="2400" dirty="0"/>
              <a:t> – Drzewo decyzyjne, analiza i </a:t>
            </a:r>
            <a:r>
              <a:rPr lang="pl-PL" sz="2400" dirty="0" err="1"/>
              <a:t>preprocesing</a:t>
            </a:r>
            <a:r>
              <a:rPr lang="pl-PL" sz="2400" dirty="0"/>
              <a:t> zbioru danych</a:t>
            </a:r>
          </a:p>
          <a:p>
            <a:endParaRPr lang="pl-PL" sz="2400" dirty="0"/>
          </a:p>
          <a:p>
            <a:r>
              <a:rPr lang="pl-PL" sz="2400" dirty="0"/>
              <a:t>Ignacy Rusiecki – SVM, wybór i uzasadnienie miar klasyfikacji</a:t>
            </a:r>
          </a:p>
        </p:txBody>
      </p:sp>
    </p:spTree>
    <p:extLst>
      <p:ext uri="{BB962C8B-B14F-4D97-AF65-F5344CB8AC3E}">
        <p14:creationId xmlns:p14="http://schemas.microsoft.com/office/powerpoint/2010/main" val="916436233"/>
      </p:ext>
    </p:extLst>
  </p:cSld>
  <p:clrMapOvr>
    <a:masterClrMapping/>
  </p:clrMapOvr>
</p:sld>
</file>

<file path=ppt/theme/theme1.xml><?xml version="1.0" encoding="utf-8"?>
<a:theme xmlns:a="http://schemas.openxmlformats.org/drawingml/2006/main" name="Przycinanie">
  <a:themeElements>
    <a:clrScheme name="Przycinani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Przycinani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rzycinani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3212</TotalTime>
  <Words>1835</Words>
  <Application>Microsoft Office PowerPoint</Application>
  <PresentationFormat>Panoramiczny</PresentationFormat>
  <Paragraphs>137</Paragraphs>
  <Slides>31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1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31</vt:i4>
      </vt:variant>
    </vt:vector>
  </HeadingPairs>
  <TitlesOfParts>
    <vt:vector size="33" baseType="lpstr">
      <vt:lpstr>Franklin Gothic Book</vt:lpstr>
      <vt:lpstr>Przycinanie</vt:lpstr>
      <vt:lpstr>Klasyfikacja Zawałów Serca</vt:lpstr>
      <vt:lpstr>1. Analiza danych</vt:lpstr>
      <vt:lpstr>Prezentacja programu PowerPoint</vt:lpstr>
      <vt:lpstr>Prezentacja programu PowerPoint</vt:lpstr>
      <vt:lpstr>Outliery</vt:lpstr>
      <vt:lpstr>Macierz korelacji</vt:lpstr>
      <vt:lpstr>Prezentacja programu PowerPoint</vt:lpstr>
      <vt:lpstr>2. Przygotowanie danych</vt:lpstr>
      <vt:lpstr>Brakujące dane</vt:lpstr>
      <vt:lpstr>3. Badane metryki</vt:lpstr>
      <vt:lpstr>Prezentacja programu PowerPoint</vt:lpstr>
      <vt:lpstr>Model 1 – Drzewo decyzyjne </vt:lpstr>
      <vt:lpstr>Badania hiperparametrów</vt:lpstr>
      <vt:lpstr>Prezentacja programu PowerPoint</vt:lpstr>
      <vt:lpstr>Prezentacja programu PowerPoint</vt:lpstr>
      <vt:lpstr>Prezentacja programu PowerPoint</vt:lpstr>
      <vt:lpstr>Model 2 – Regresja logistyczna</vt:lpstr>
      <vt:lpstr>Parametry modelu</vt:lpstr>
      <vt:lpstr>Wyniki niezoptymalizowanego modelu</vt:lpstr>
      <vt:lpstr>Optymalizacja hiperparametrów</vt:lpstr>
      <vt:lpstr>Prezentacja programu PowerPoint</vt:lpstr>
      <vt:lpstr>Model 3 - SVM</vt:lpstr>
      <vt:lpstr>Optymalizacja hiperparametrów</vt:lpstr>
      <vt:lpstr>Szukanie progu decyzyjnego</vt:lpstr>
      <vt:lpstr>Prezentacja programu PowerPoint</vt:lpstr>
      <vt:lpstr>Prezentacja programu PowerPoint</vt:lpstr>
      <vt:lpstr>Porównanie wszystkich modeli</vt:lpstr>
      <vt:lpstr>Prezentacja programu PowerPoint</vt:lpstr>
      <vt:lpstr>Prezentacja programu PowerPoint</vt:lpstr>
      <vt:lpstr>Podsummowanie</vt:lpstr>
      <vt:lpstr>Podział prac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 Catahbi</dc:creator>
  <cp:lastModifiedBy>Ignacy Rusiecki</cp:lastModifiedBy>
  <cp:revision>54</cp:revision>
  <dcterms:created xsi:type="dcterms:W3CDTF">2026-05-11T16:09:48Z</dcterms:created>
  <dcterms:modified xsi:type="dcterms:W3CDTF">2026-05-14T08:17:18Z</dcterms:modified>
</cp:coreProperties>
</file>